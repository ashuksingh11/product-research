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101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01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1828800"/>
            <a:ext cx="2286000" cy="2286000"/>
          </a:xfrm>
          <a:prstGeom prst="ellipse">
            <a:avLst/>
          </a:prstGeom>
          <a:solidFill>
            <a:srgbClr val="0D17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Samsung Kitchen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8A9CE8"/>
                </a:solidFill>
                <a:latin typeface="Calibri"/>
              </a:defRPr>
            </a:pPr>
            <a:r>
              <a:t>Product &amp; Tech Competitive Landscape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A7CC8"/>
                </a:solidFill>
                <a:latin typeface="Calibri"/>
              </a:defRPr>
            </a:pPr>
            <a:r>
              <a:t>Comprehensive Product Research  •  Software, AI &amp; Features  •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2377440" cy="2560320"/>
          </a:xfrm>
          <a:prstGeom prst="roundRect">
            <a:avLst/>
          </a:prstGeom>
          <a:solidFill>
            <a:srgbClr val="122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$311B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E8"/>
                </a:solidFill>
                <a:latin typeface="Calibri"/>
              </a:defRPr>
            </a:pPr>
            <a:r>
              <a:t>Global Kitchen</a:t>
            </a:r>
            <a:br/>
            <a:r>
              <a:t>Market (2025)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937760"/>
            <a:ext cx="914400" cy="18288"/>
          </a:xfrm>
          <a:prstGeom prst="rect">
            <a:avLst/>
          </a:prstGeom>
          <a:solidFill>
            <a:srgbClr val="1A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CD0"/>
                </a:solidFill>
                <a:latin typeface="Calibri"/>
              </a:defRPr>
            </a:pPr>
            <a:r>
              <a:t>$40-60B smart by 2030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108960"/>
            <a:ext cx="2377440" cy="2560320"/>
          </a:xfrm>
          <a:prstGeom prst="roundRect">
            <a:avLst/>
          </a:prstGeom>
          <a:solidFill>
            <a:srgbClr val="122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97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E8"/>
                </a:solidFill>
                <a:latin typeface="Calibri"/>
              </a:defRPr>
            </a:pPr>
            <a:r>
              <a:t>Samsung Smart</a:t>
            </a:r>
            <a:br/>
            <a:r>
              <a:t>Kitchen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937760"/>
            <a:ext cx="914400" cy="18288"/>
          </a:xfrm>
          <a:prstGeom prst="rect">
            <a:avLst/>
          </a:prstGeom>
          <a:solidFill>
            <a:srgbClr val="1A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CD0"/>
                </a:solidFill>
                <a:latin typeface="Calibri"/>
              </a:defRPr>
            </a:pPr>
            <a:r>
              <a:t>#1 in fastest-growing segment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108960"/>
            <a:ext cx="2377440" cy="2560320"/>
          </a:xfrm>
          <a:prstGeom prst="roundRect">
            <a:avLst/>
          </a:prstGeom>
          <a:solidFill>
            <a:srgbClr val="122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4.55/5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E8"/>
                </a:solidFill>
                <a:latin typeface="Calibri"/>
              </a:defRPr>
            </a:pPr>
            <a:r>
              <a:t>Composite KPI</a:t>
            </a:r>
            <a:br/>
            <a:r>
              <a:t>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4937760"/>
            <a:ext cx="914400" cy="18288"/>
          </a:xfrm>
          <a:prstGeom prst="rect">
            <a:avLst/>
          </a:prstGeom>
          <a:solidFill>
            <a:srgbClr val="1A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CD0"/>
                </a:solidFill>
                <a:latin typeface="Calibri"/>
              </a:defRPr>
            </a:pPr>
            <a:r>
              <a:t>Leads all 6 competitors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3108960"/>
            <a:ext cx="2377440" cy="2560320"/>
          </a:xfrm>
          <a:prstGeom prst="roundRect">
            <a:avLst/>
          </a:prstGeom>
          <a:solidFill>
            <a:srgbClr val="122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297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E8"/>
                </a:solidFill>
                <a:latin typeface="Calibri"/>
              </a:defRPr>
            </a:pPr>
            <a:r>
              <a:t>Major Competitors</a:t>
            </a:r>
            <a:br/>
            <a:r>
              <a:t>Analyzed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4937760"/>
            <a:ext cx="914400" cy="18288"/>
          </a:xfrm>
          <a:prstGeom prst="rect">
            <a:avLst/>
          </a:prstGeom>
          <a:solidFill>
            <a:srgbClr val="1A3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A8CD0"/>
                </a:solidFill>
                <a:latin typeface="Calibri"/>
              </a:defRPr>
            </a:pPr>
            <a:r>
              <a:t>LG, Bosch, GE, Whirlpool, Miele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125E"/>
                </a:solidFill>
                <a:latin typeface="Calibri"/>
              </a:defRPr>
            </a:pPr>
            <a:r>
              <a:t>Product Feature Showdown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Samsung vs 5 competitors across refrigeration, cooking, AI platforms, and hardware innovation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Fridge Display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097280"/>
            <a:ext cx="1097280" cy="201168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097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Samsung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32" FHD Touch</a:t>
            </a:r>
            <a:br/>
            <a:r>
              <a:t>(Industry largest)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371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LG: T-OLED 36"</a:t>
            </a:r>
            <a:br/>
            <a:r>
              <a:t>GE: 7" LCD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74520"/>
            <a:ext cx="594360" cy="1828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874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00584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1155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097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Fridge Camera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097280"/>
            <a:ext cx="1097280" cy="201168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097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Samsung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Dual-lens + Gemini</a:t>
            </a:r>
            <a:br/>
            <a:r>
              <a:t>1000s of 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371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LG: remote view</a:t>
            </a:r>
            <a:br/>
            <a:r>
              <a:t>GE: barcode scan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1874520"/>
            <a:ext cx="594360" cy="1828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3128" y="1874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00584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11155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097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Cooling Tech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0" y="1097280"/>
            <a:ext cx="1097280" cy="201168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1097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Samsung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AI Hybrid (Peltier)</a:t>
            </a:r>
            <a:br/>
            <a:r>
              <a:t>World-first 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13716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LG: Inverter Linear</a:t>
            </a:r>
            <a:br/>
            <a:r>
              <a:t>Miele: MasterCool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39328" y="1874520"/>
            <a:ext cx="594360" cy="1828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187452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LEAD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33172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24414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423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Oven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2423160"/>
            <a:ext cx="1097280" cy="201168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2423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Bosch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Cook AI: Agentic</a:t>
            </a:r>
            <a:br/>
            <a:r>
              <a:t>Multi-appliance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2697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Samsung: 80 dishes</a:t>
            </a:r>
            <a:br/>
            <a:r>
              <a:t>LG: 85+ dishes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3200400"/>
            <a:ext cx="59436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32004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233172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53128" y="24414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🌡️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2423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Cooking Sensors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2423160"/>
            <a:ext cx="1097280" cy="201168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2423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Bosch/Miele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Lambda O2 probe</a:t>
            </a:r>
            <a:br/>
            <a:r>
              <a:t>M Sense cookware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2697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Samsung: camera</a:t>
            </a:r>
            <a:br/>
            <a:r>
              <a:t>LG: camera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53128" y="3200400"/>
            <a:ext cx="59436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53128" y="32004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WATCH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233172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8" y="24414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423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Barcode Scanner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2423160"/>
            <a:ext cx="1097280" cy="201168"/>
          </a:xfrm>
          <a:prstGeom prst="round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0" y="2423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2697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Scan-to-List</a:t>
            </a:r>
            <a:br/>
            <a:r>
              <a:t>4M+ products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26974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Samsung: none</a:t>
            </a:r>
            <a:br/>
            <a:r>
              <a:t>LG: none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39328" y="3200400"/>
            <a:ext cx="59436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39328" y="320040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GAP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365760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3749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LLM/GenAI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743200" y="3749040"/>
            <a:ext cx="1097280" cy="201168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0" y="37490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Samsung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4023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Google Gemini</a:t>
            </a:r>
            <a:br/>
            <a:r>
              <a:t>Multimodal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51760" y="40233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LG: EXAONE</a:t>
            </a:r>
            <a:br/>
            <a:r>
              <a:t>GE: Vertex AI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4526280"/>
            <a:ext cx="594360" cy="1828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LEAD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43400" y="365760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453128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00600" y="3749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Ecosystem Breadth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629400" y="3749040"/>
            <a:ext cx="1097280" cy="201168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29400" y="37490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Samsung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0600" y="4023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Phone+TV+Watch</a:t>
            </a:r>
            <a:br/>
            <a:r>
              <a:t>+Home (broadest)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37960" y="40233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LG: TV+Home</a:t>
            </a:r>
            <a:br/>
            <a:r>
              <a:t>Others: appliance only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53128" y="4526280"/>
            <a:ext cx="594360" cy="1828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53128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LEAD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229600" y="365760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39328" y="37673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3749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Recipe Platform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515600" y="3749040"/>
            <a:ext cx="1097280" cy="201168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515600" y="37490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Samsung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40233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Samsung Food</a:t>
            </a:r>
            <a:br/>
            <a:r>
              <a:t>160K+ recipes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424160" y="40233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Whirlpool: Yummly 27M</a:t>
            </a:r>
            <a:br/>
            <a:r>
              <a:t>GE: Flavorly AI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339328" y="4526280"/>
            <a:ext cx="594360" cy="1828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39328" y="452628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LEAD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57200" y="498348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6928" y="50932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5074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Brand Trust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43200" y="5074920"/>
            <a:ext cx="1097280" cy="201168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0" y="50749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Bosch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5349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#1 most trusted</a:t>
            </a:r>
            <a:br/>
            <a:r>
              <a:t>7 consecutive years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651760" y="5349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Samsung: ranked 4th</a:t>
            </a:r>
            <a:br/>
            <a:r>
              <a:t>LG: ranked 3rd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66928" y="5852160"/>
            <a:ext cx="594360" cy="1828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6928" y="58521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GAP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343400" y="498348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53128" y="50932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00600" y="5074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Share Growth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629400" y="5074920"/>
            <a:ext cx="1097280" cy="201168"/>
          </a:xfrm>
          <a:prstGeom prst="round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629400" y="50749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GE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800600" y="5349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+2 ppt gain (2025)</a:t>
            </a:r>
            <a:br/>
            <a:r>
              <a:t>Fastest growing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537960" y="5349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Samsung: steady 18%</a:t>
            </a:r>
            <a:br/>
            <a:r>
              <a:t>LG: stable 17%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453128" y="5852160"/>
            <a:ext cx="59436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53128" y="58521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WATCH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229600" y="4983480"/>
            <a:ext cx="356616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39328" y="50932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Calibri"/>
              </a:defRPr>
            </a:pPr>
            <a:r>
              <a:t>🔌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0" y="5074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Matter Protocol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515600" y="5074920"/>
            <a:ext cx="1097280" cy="201168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515600" y="50749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★ Bosch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53492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3333"/>
                </a:solidFill>
                <a:latin typeface="Calibri"/>
              </a:defRPr>
            </a:pPr>
            <a:r>
              <a:t>First-mover</a:t>
            </a:r>
            <a:br/>
            <a:r>
              <a:t>Shipped first device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24160" y="534924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66666"/>
                </a:solidFill>
                <a:latin typeface="Calibri"/>
              </a:defRPr>
            </a:pPr>
            <a:r>
              <a:t>Samsung: 1.5 camera</a:t>
            </a:r>
            <a:br/>
            <a:r>
              <a:t>LG: Yes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339328" y="5852160"/>
            <a:ext cx="594360" cy="1828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39328" y="585216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1">
                <a:solidFill>
                  <a:srgbClr val="FFFFFF"/>
                </a:solidFill>
                <a:latin typeface="Calibri"/>
              </a:defRPr>
            </a:pPr>
            <a:r>
              <a:t>Samsung: WATCH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57200" y="64008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SAMSUNG SCORECARD: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43200" y="6400800"/>
            <a:ext cx="1005840" cy="228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743200" y="6400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 LEADS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931920" y="6400800"/>
            <a:ext cx="1005840" cy="2286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31920" y="6400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 WATCH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120640" y="6400800"/>
            <a:ext cx="1005840" cy="228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120640" y="640080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 GAPS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0080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B0BEE8"/>
                </a:solidFill>
                <a:latin typeface="Calibri"/>
              </a:defRPr>
            </a:pPr>
            <a:r>
              <a:t>Samsung leads in ecosystem + display + AI vision. Gaps in autonomous cooking, brand trust, and barcode innovation.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125E"/>
                </a:solidFill>
                <a:latin typeface="Calibri"/>
              </a:defRPr>
            </a:pPr>
            <a:r>
              <a:t>AI Architecture &amp; Tech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Three competing philosophies shaping the autonomous kitchen era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56616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6400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DISTRIBUTED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Exynos NPU in every appliance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8A0"/>
                </a:solidFill>
                <a:latin typeface="Calibri"/>
              </a:defRPr>
            </a:pPr>
            <a:r>
              <a:t>&lt;50ms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8A0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CapEx/unit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28A0"/>
                </a:solidFill>
                <a:latin typeface="Calibri"/>
              </a:defRPr>
            </a:pPr>
            <a:r>
              <a:t>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cloud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NPU does local object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Gemini handles complex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Works offline for basic 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Hard to upgrade (chipset fixed)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251960"/>
            <a:ext cx="3291840" cy="274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43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RISK: Cloud dependency for 15-20yr appliance lifespan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005840"/>
            <a:ext cx="356616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1005840"/>
            <a:ext cx="3566160" cy="640080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1078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1353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CENTRAL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ThinQ ON brain, dumb endpoints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50034"/>
                </a:solidFill>
                <a:latin typeface="Calibri"/>
              </a:defRPr>
            </a:pPr>
            <a:r>
              <a:t>100-300ms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212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50034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CapEx/unit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50034"/>
                </a:solidFill>
                <a:latin typeface="Calibri"/>
              </a:defRPr>
            </a:pPr>
            <a:r>
              <a:t>EXAONE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on-device LLM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DQ-X AI Chipset in central 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1.2B-param SLM runs locally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Easy to upgrade (swap hub)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Single point of failure risk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4251960"/>
            <a:ext cx="329184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4343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STRENGTH: On-device AI solves cloud dependency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1005840"/>
            <a:ext cx="3566160" cy="4206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1005840"/>
            <a:ext cx="3566160" cy="640080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10789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1353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PHYSICS-FIRST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Sensors over cameras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0015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1832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0015"/>
                </a:solidFill>
                <a:latin typeface="Calibri"/>
              </a:defRPr>
            </a:pPr>
            <a:r>
              <a:t>LOWEST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CapEx/unit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69880" y="2057400"/>
            <a:ext cx="96012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69880" y="21031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0015"/>
                </a:solidFill>
                <a:latin typeface="Calibri"/>
              </a:defRPr>
            </a:pPr>
            <a:r>
              <a:t>Internal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69880" y="2377440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Lambda O2 sensor from automotive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Humidity curves predict doneness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58200" y="3429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No cloud needed for cooking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• Less "visible" AI to consumers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66760" y="4251960"/>
            <a:ext cx="329184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4343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STRENGTH: Best cooking results, cloud-independent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5394960"/>
            <a:ext cx="12191695" cy="36576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125E"/>
                </a:solidFill>
                <a:latin typeface="Calibri"/>
              </a:defRPr>
            </a:pPr>
            <a:r>
              <a:t>COMPOSITE KPI SCORES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5806440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333333"/>
                </a:solidFill>
                <a:latin typeface="Calibri"/>
              </a:defRPr>
            </a:pPr>
            <a:r>
              <a:t>Samsung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40" y="5806440"/>
            <a:ext cx="7315200" cy="14630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63040" y="5806440"/>
            <a:ext cx="6656832" cy="146304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11312" y="580644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28A0"/>
                </a:solidFill>
                <a:latin typeface="Calibri"/>
              </a:defRPr>
            </a:pPr>
            <a:r>
              <a:t>4.55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998464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333333"/>
                </a:solidFill>
                <a:latin typeface="Calibri"/>
              </a:defRPr>
            </a:pPr>
            <a:r>
              <a:t>LG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63040" y="5998464"/>
            <a:ext cx="7315200" cy="14630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463040" y="5998464"/>
            <a:ext cx="5793638" cy="146304"/>
          </a:xfrm>
          <a:prstGeom prst="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48118" y="5998464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50034"/>
                </a:solidFill>
                <a:latin typeface="Calibri"/>
              </a:defRPr>
            </a:pPr>
            <a:r>
              <a:t>3.96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6190488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333333"/>
                </a:solidFill>
                <a:latin typeface="Calibri"/>
              </a:defRPr>
            </a:pPr>
            <a:r>
              <a:t>Bosch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63040" y="6190488"/>
            <a:ext cx="7315200" cy="14630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63040" y="6190488"/>
            <a:ext cx="5091379" cy="146304"/>
          </a:xfrm>
          <a:prstGeom prst="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45859" y="6190488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20015"/>
                </a:solidFill>
                <a:latin typeface="Calibri"/>
              </a:defRPr>
            </a:pPr>
            <a:r>
              <a:t>3.48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382512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333333"/>
                </a:solidFill>
                <a:latin typeface="Calibri"/>
              </a:defRPr>
            </a:pPr>
            <a:r>
              <a:t>GE/Haier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63040" y="6382512"/>
            <a:ext cx="7315200" cy="14630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63040" y="6382512"/>
            <a:ext cx="4462272" cy="146304"/>
          </a:xfrm>
          <a:prstGeom prst="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016752" y="6382512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4B8D"/>
                </a:solidFill>
                <a:latin typeface="Calibri"/>
              </a:defRPr>
            </a:pPr>
            <a:r>
              <a:t>3.05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0" y="6574536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333333"/>
                </a:solidFill>
                <a:latin typeface="Calibri"/>
              </a:defRPr>
            </a:pPr>
            <a:r>
              <a:t>Whirlpool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463040" y="6574536"/>
            <a:ext cx="7315200" cy="14630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463040" y="6574536"/>
            <a:ext cx="4213555" cy="146304"/>
          </a:xfrm>
          <a:prstGeom prst="rect">
            <a:avLst/>
          </a:prstGeom>
          <a:solidFill>
            <a:srgbClr val="C89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68035" y="6574536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89623"/>
                </a:solidFill>
                <a:latin typeface="Calibri"/>
              </a:defRPr>
            </a:pPr>
            <a:r>
              <a:t>2.88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766560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333333"/>
                </a:solidFill>
                <a:latin typeface="Calibri"/>
              </a:defRPr>
            </a:pPr>
            <a:r>
              <a:t>Miele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463040" y="6766560"/>
            <a:ext cx="7315200" cy="146304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463040" y="6766560"/>
            <a:ext cx="3760012" cy="146304"/>
          </a:xfrm>
          <a:prstGeom prst="rect">
            <a:avLst/>
          </a:prstGeom>
          <a:solidFill>
            <a:srgbClr val="6E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14492" y="6766560"/>
            <a:ext cx="457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E1D24"/>
                </a:solidFill>
                <a:latin typeface="Calibri"/>
              </a:defRPr>
            </a:pPr>
            <a:r>
              <a:t>2.57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2688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A125E"/>
                </a:solidFill>
                <a:latin typeface="Calibri"/>
              </a:defRPr>
            </a:pPr>
            <a:r>
              <a:t>SAMSUNG BY DIMENSION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26880" y="58064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424160" y="5806440"/>
            <a:ext cx="502920" cy="1645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24160" y="580644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5.0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26880" y="5989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Innovation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424160" y="5989320"/>
            <a:ext cx="502920" cy="1645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24160" y="598932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5.0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326880" y="61722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24160" y="6172200"/>
            <a:ext cx="502920" cy="1645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424160" y="617220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4.75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26880" y="6355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Business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424160" y="6355080"/>
            <a:ext cx="502920" cy="1645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424160" y="635508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4.75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6537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424160" y="6537960"/>
            <a:ext cx="502920" cy="16459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424160" y="6537960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3.7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125E"/>
                </a:solidFill>
                <a:latin typeface="Calibri"/>
              </a:defRPr>
            </a:pPr>
            <a:r>
              <a:t>Strategic Gaps &amp;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7 priorities to maintain Samsung's competitive leadership in the evolving kitchen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56616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105156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78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Close Trust &amp;</a:t>
            </a:r>
            <a:br/>
            <a:r>
              <a:t>Reliability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965960"/>
            <a:ext cx="3291840" cy="201168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vs Bosch (7yr #1 trust)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#4 in trust</a:t>
            </a:r>
            <a:br/>
            <a:r>
              <a:t>87 problems/100 units</a:t>
            </a:r>
            <a:br/>
            <a:r>
              <a:t>App rating: 3.8 vs 4.5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240280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7AE6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231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Reliability Guarantee program</a:t>
            </a:r>
            <a:br/>
            <a:r>
              <a:t>Publish transparent data</a:t>
            </a:r>
            <a:br/>
            <a:r>
              <a:t>Invest in connected QA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005840"/>
            <a:ext cx="356616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005840"/>
            <a:ext cx="35661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4840" y="105156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0698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078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Build Autonomous</a:t>
            </a:r>
            <a:br/>
            <a:r>
              <a:t>Cooking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1965960"/>
            <a:ext cx="3291840" cy="201168"/>
          </a:xfrm>
          <a:prstGeom prst="roundRect">
            <a:avLst/>
          </a:prstGeom>
          <a:solidFill>
            <a:srgbClr val="E2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1965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vs Bosch Cook AI (agentic)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240280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4231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Samsung is vision-focused</a:t>
            </a:r>
            <a:br/>
            <a:r>
              <a:t>Bosch orchestrates multi-appliance</a:t>
            </a:r>
            <a:br/>
            <a:r>
              <a:t>Lambda sensor outperforms camera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2240280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7AE6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231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Develop agentic cooking AI</a:t>
            </a:r>
            <a:br/>
            <a:r>
              <a:t>Fridge→Recipe→Oven automation</a:t>
            </a:r>
            <a:br/>
            <a:r>
              <a:t>Leverage Gemini multimodal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005840"/>
            <a:ext cx="356616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005840"/>
            <a:ext cx="35661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40" y="105156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0698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10789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 PRIORITY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463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Calibri"/>
              </a:defRPr>
            </a:pPr>
            <a:r>
              <a:t>Defend Smart Share</a:t>
            </a:r>
            <a:br/>
            <a:r>
              <a:t>vs GE Momentum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1965960"/>
            <a:ext cx="3291840" cy="201168"/>
          </a:xfrm>
          <a:prstGeom prst="roundRect">
            <a:avLst/>
          </a:prstGeom>
          <a:solidFill>
            <a:srgbClr val="004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196596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Calibri"/>
              </a:defRPr>
            </a:pPr>
            <a:r>
              <a:t>vs GE (+2 ppt, 9x awards)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240280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4231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GE: fastest share growth</a:t>
            </a:r>
            <a:br/>
            <a:r>
              <a:t>Barcode scanner unique HW</a:t>
            </a:r>
            <a:br/>
            <a:r>
              <a:t>Instacart grocery commerce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240280"/>
            <a:ext cx="1600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7AE6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242316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Match barcode innovation</a:t>
            </a:r>
            <a:br/>
            <a:r>
              <a:t>Deepen grocery integration</a:t>
            </a:r>
            <a:br/>
            <a:r>
              <a:t>Leverage phone+TV ecosystem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94760"/>
            <a:ext cx="2651760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794760"/>
            <a:ext cx="265176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0352" y="383133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3840480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38587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MED-HIGH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20624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Cloud Dependency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45262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4663440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Gemini 15-20yr risk</a:t>
            </a:r>
            <a:br/>
            <a:r>
              <a:t>LG/Bosch run local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2120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7AE6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349240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Hybrid AI: core on-device</a:t>
            </a:r>
            <a:br/>
            <a:r>
              <a:t>Graceful cloud degradation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83280" y="3794760"/>
            <a:ext cx="2651760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83280" y="3794760"/>
            <a:ext cx="265176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456432" y="383133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6432" y="3840480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49040" y="38587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MED-HIGH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93008" y="420624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KitchenAid Relaunch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45262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93008" y="4663440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10yr biggest relaunch</a:t>
            </a:r>
            <a:br/>
            <a:r>
              <a:t>Camera AI + 27M Yummly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93008" y="52120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7AE6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93008" y="5349240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Differentiate on ecosystem</a:t>
            </a:r>
            <a:br/>
            <a:r>
              <a:t>Deepen SmartThings + Gemini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09360" y="3794760"/>
            <a:ext cx="2651760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3794760"/>
            <a:ext cx="265176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382512" y="383133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512" y="3840480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0" y="38587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420624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Dacor Luxury Gap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088" y="45262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19088" y="4663440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Below Thermador/SubZero</a:t>
            </a:r>
            <a:br/>
            <a:r>
              <a:t>Miele 20yr standard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088" y="52120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7AE6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19088" y="5349240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Dacor x Samsung AI suite</a:t>
            </a:r>
            <a:br/>
            <a:r>
              <a:t>AI luxury differentiation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235440" y="3794760"/>
            <a:ext cx="2651760" cy="2331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235440" y="3794760"/>
            <a:ext cx="265176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08592" y="3831336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08592" y="3840480"/>
            <a:ext cx="246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9C12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0" y="385876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45168" y="4206240"/>
            <a:ext cx="2432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Chinese Brand Entry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45168" y="45262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  <a:latin typeface="Calibri"/>
              </a:defRPr>
            </a:pPr>
            <a:r>
              <a:t>GAP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45168" y="4663440"/>
            <a:ext cx="24323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Midea +17.7% growth</a:t>
            </a:r>
            <a:br/>
            <a:r>
              <a:t>Midea-Hisense AI pact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45168" y="5212080"/>
            <a:ext cx="2432304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7AE6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45168" y="5349240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3333"/>
                </a:solidFill>
                <a:latin typeface="Calibri"/>
              </a:defRPr>
            </a:pPr>
            <a:r>
              <a:t>Bespoke entry-tier expand</a:t>
            </a:r>
            <a:br/>
            <a:r>
              <a:t>Ecosystem moat vs price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0" y="6400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2026-2030 OUTLOOK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926080" y="6382512"/>
            <a:ext cx="502920" cy="1828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26080" y="638251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74720" y="63825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0BEE8"/>
                </a:solidFill>
                <a:latin typeface="Calibri"/>
              </a:defRPr>
            </a:pPr>
            <a:r>
              <a:t>Smart kitchen</a:t>
            </a:r>
            <a:br/>
            <a:r>
              <a:t>tipping point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754880" y="6382512"/>
            <a:ext cx="502920" cy="1828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754880" y="638251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03520" y="63825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0BEE8"/>
                </a:solidFill>
                <a:latin typeface="Calibri"/>
              </a:defRPr>
            </a:pPr>
            <a:r>
              <a:t>Autonomous cooking</a:t>
            </a:r>
            <a:br/>
            <a:r>
              <a:t>goes commercial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583680" y="6382512"/>
            <a:ext cx="502920" cy="1828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83680" y="638251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2028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32320" y="63825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0BEE8"/>
                </a:solidFill>
                <a:latin typeface="Calibri"/>
              </a:defRPr>
            </a:pPr>
            <a:r>
              <a:t>25% smart</a:t>
            </a:r>
            <a:br/>
            <a:r>
              <a:t>penetration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412480" y="6382512"/>
            <a:ext cx="502920" cy="1828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12480" y="638251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2029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61120" y="63825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0BEE8"/>
                </a:solidFill>
                <a:latin typeface="Calibri"/>
              </a:defRPr>
            </a:pPr>
            <a:r>
              <a:t>Fully agentic</a:t>
            </a:r>
            <a:br/>
            <a:r>
              <a:t>kitchens (premium)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241280" y="6382512"/>
            <a:ext cx="502920" cy="182880"/>
          </a:xfrm>
          <a:prstGeom prst="round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241280" y="638251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89920" y="63825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B0BEE8"/>
                </a:solidFill>
                <a:latin typeface="Calibri"/>
              </a:defRPr>
            </a:pPr>
            <a:r>
              <a:t>$40-60B smart</a:t>
            </a:r>
            <a:br/>
            <a:r>
              <a:t>kitchen market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125E"/>
                </a:solidFill>
                <a:latin typeface="Calibri"/>
              </a:defRPr>
            </a:pPr>
            <a:r>
              <a:t>Appendix: 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100+ primary sources from market research firms, company newsrooms, and CES/KBIS 2026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566160" cy="2423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69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078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Market Data &amp; Sizing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$311B market, CAGR 4.2-4.8%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276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Mordor Intelligence, IMARC, Coherent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Smart kitchen $23.7B → $40-60B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Research and Markets, Statista, Polaris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1401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US smart $6.9B → $17.64B by 2033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786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GlobeNewsWire US Forecast 2025-2033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8950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13% → 30.8% smart penetration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540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Statista Digital Market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005840"/>
            <a:ext cx="3566160" cy="2423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1005840"/>
            <a:ext cx="356616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1069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078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Market Share &amp;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463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Samsung 18% / 21.7% smart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6276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OpenBrand Q1-Q2 2025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938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Brand rankings (Whirlpool/LG/GE/Bosch)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1031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OpenBrand, Fred's Appliance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41401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Bosch #1 trust (7 years)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5786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Lifestory Research 2025 Study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88950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87/100 connected problems, -11pt NPS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0540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J.D. Power 2025 Appliance Study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005840"/>
            <a:ext cx="3566160" cy="2423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005840"/>
            <a:ext cx="3566160" cy="36576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1069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10789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Samsung Product &amp;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146304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Bespoke AI, Gemini, Hybrid Cooling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6276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Samsung Newsroom, CES 2026 press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193852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SmartThings 425M+, Matter 1.5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1031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SmartThings Blog, Samsung SEC filings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41401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Samsung Food 160K+ recipes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57860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Samsung Food platform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288950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Knox Matrix, 9,304 US patents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0540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GreyB Analytics, Samsung filings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611880"/>
            <a:ext cx="3566160" cy="2423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611880"/>
            <a:ext cx="356616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3675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3685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Competitor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0690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LG: Gourmet AI, EXAONE, ThinQ 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23367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LG Newsroom CES 2026 releases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54456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Bosch: Cook AI, lambda probe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47091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BSH CES 2026 (BusinessWire), Reviewed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02005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GE: Barcode scanner, Flavorly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18464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GE Press Room, Google Cloud release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4955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Whirlpool/Miele: KA Camera, M Sense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56601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KBIS 2026 (PRNewswire), Miele SBID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3400" y="3611880"/>
            <a:ext cx="3566160" cy="2423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43400" y="3611880"/>
            <a:ext cx="356616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53128" y="3675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3685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Technology &amp;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40690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Edge vs Hub vs Sensor architectures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423367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Gemini Market Intelligence Report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60" y="454456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Matter 1.2-1.5, 750+ certified products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60" y="47091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Connectivity Standards Alliance (CSA)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502005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AI patent growth 800%+ since 2017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80560" y="518464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GreyB Patent 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54955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47% data breach concern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80560" y="56601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American Home Shield Smart Survey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0" y="3611880"/>
            <a:ext cx="3566160" cy="24231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29600" y="3611880"/>
            <a:ext cx="356616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39328" y="36758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🎪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1080" y="36850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CES/KBIS 2026 Events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66760" y="40690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CES 2026 Innovation Awards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423367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CES official, Reviewed, Tom's Guide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60" y="454456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KBIS 2026 Best of Show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47091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KBIS official, PRNewswire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66760" y="502005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GE 9x Smart Appliance of Year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66760" y="518464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GE Appliances Press Room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66760" y="54955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  <a:latin typeface="Calibri"/>
              </a:defRPr>
            </a:pPr>
            <a:r>
              <a:t>239 smart kitchen startups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66760" y="56601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  <a:latin typeface="Calibri"/>
              </a:defRPr>
            </a:pPr>
            <a:r>
              <a:t>→ Tracxn Smart Kitchen Report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A1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6428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B0BEE8"/>
                </a:solidFill>
                <a:latin typeface="Calibri"/>
              </a:defRPr>
            </a:pPr>
            <a:r>
              <a:t>Report compiled March 2026  •  Publicly available data  •  KPI scoring 1-5 scale  •  Full source list (60+ URLs) in companion research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