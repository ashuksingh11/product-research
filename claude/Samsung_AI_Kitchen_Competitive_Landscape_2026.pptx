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Samsung AI Kitchen: Competitive Landscape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EE"/>
                </a:solidFill>
                <a:latin typeface="Calibri"/>
              </a:defRPr>
            </a:pPr>
            <a:r>
              <a:t>AI Feature Deep Dive  |  Samsung vs LG, Bosch, GE/Haier, Whirlpool/KitchenAid, Miele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5029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A6B"/>
                </a:solidFill>
                <a:latin typeface="Calibri"/>
              </a:defRPr>
            </a:pPr>
            <a:r>
              <a:t>US Smart Kitchen Market: $6.9B (2025) → $17.6B by 2033 (12.5% CAGR)    |    Samsung Share: ~21.7%    |    Industry Shift: 'Smart' → 'Autonomous' Kitchens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7B3F"/>
                </a:solidFill>
                <a:latin typeface="Calibri"/>
              </a:defRPr>
            </a:pPr>
            <a:r>
              <a:t>SAMSUNG'S AI STRENGTHS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5303520" cy="36576"/>
          </a:xfrm>
          <a:prstGeom prst="rect">
            <a:avLst/>
          </a:prstGeom>
          <a:solidFill>
            <a:srgbClr val="0F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606040"/>
            <a:ext cx="2651760" cy="685800"/>
          </a:xfrm>
          <a:prstGeom prst="roundRect">
            <a:avLst/>
          </a:prstGeom>
          <a:solidFill>
            <a:srgbClr val="F2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80" y="2770632"/>
            <a:ext cx="411480" cy="411480"/>
          </a:xfrm>
          <a:prstGeom prst="ellipse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106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rPr dirty="0"/>
              <a:t>SmartThings Ecosystem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1727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rPr dirty="0"/>
              <a:t>410M+ users | phones, TVs, wearables, appliances | broadest in industry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3860" y="3830036"/>
            <a:ext cx="2651760" cy="685800"/>
          </a:xfrm>
          <a:prstGeom prst="roundRect">
            <a:avLst/>
          </a:prstGeom>
          <a:solidFill>
            <a:srgbClr val="F2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86740" y="3921476"/>
            <a:ext cx="411480" cy="411480"/>
          </a:xfrm>
          <a:prstGeom prst="ellipse">
            <a:avLst/>
          </a:prstGeom>
          <a:solidFill>
            <a:srgbClr val="1E3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40" y="380352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rPr dirty="0"/>
              <a:t>Google Gemini Vision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660" y="40462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rPr dirty="0"/>
              <a:t>First Gemini in a fridge | multimodal food recognition | 37+ foods expanding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061" y="4892040"/>
            <a:ext cx="2651760" cy="685800"/>
          </a:xfrm>
          <a:prstGeom prst="roundRect">
            <a:avLst/>
          </a:prstGeom>
          <a:solidFill>
            <a:srgbClr val="F2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79120" y="4904456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40" y="4849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rPr dirty="0"/>
              <a:t>Knox Matrix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40" y="51239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rPr dirty="0"/>
              <a:t>Hardware chip + blockchain + post-quantum encryption | industry-leading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2606040"/>
            <a:ext cx="2651760" cy="685800"/>
          </a:xfrm>
          <a:prstGeom prst="roundRect">
            <a:avLst/>
          </a:prstGeom>
          <a:solidFill>
            <a:srgbClr val="F2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474720" y="2770632"/>
            <a:ext cx="411480" cy="411480"/>
          </a:xfrm>
          <a:prstGeom prst="ellipse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40" y="26106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rPr dirty="0"/>
              <a:t>AI Hybrid Cooling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40" y="281727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rPr dirty="0"/>
              <a:t>Peltier + compressor dual system | Johns Hopkins APL partnership | unique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3830036"/>
            <a:ext cx="2651760" cy="685800"/>
          </a:xfrm>
          <a:prstGeom prst="roundRect">
            <a:avLst/>
          </a:prstGeom>
          <a:solidFill>
            <a:srgbClr val="F2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429000" y="3994628"/>
            <a:ext cx="411480" cy="411480"/>
          </a:xfrm>
          <a:prstGeom prst="ellipse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8346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Bixby Voice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147937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rPr dirty="0"/>
              <a:t>Voice ID multi-user | Perplexity AI (2026) | built-in mic/speaker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46120" y="4873752"/>
            <a:ext cx="2651760" cy="685800"/>
          </a:xfrm>
          <a:prstGeom prst="roundRect">
            <a:avLst/>
          </a:prstGeom>
          <a:solidFill>
            <a:srgbClr val="F2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429000" y="5038344"/>
            <a:ext cx="411480" cy="41148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rPr dirty="0"/>
              <a:t>Display Leadership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510864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rPr dirty="0"/>
              <a:t>Up to 32" AI Home touchscreen | 3D Map View | smart home command center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057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2B2B"/>
                </a:solidFill>
                <a:latin typeface="Calibri"/>
              </a:defRPr>
            </a:pPr>
            <a:r>
              <a:t>COMPETITOR AI PHILOSOPHIES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423160"/>
            <a:ext cx="5303520" cy="36576"/>
          </a:xfrm>
          <a:prstGeom prst="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0" y="2606040"/>
            <a:ext cx="73152" cy="68580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26243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50034"/>
                </a:solidFill>
                <a:latin typeface="Calibri"/>
              </a:defRPr>
            </a:pPr>
            <a:r>
              <a:t>LG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2624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Affectionate Intelligence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rPr dirty="0"/>
              <a:t>On-device EXAONE LLM | 85+ dish Gourmet AI</a:t>
            </a:r>
            <a:br>
              <a:rPr dirty="0"/>
            </a:br>
            <a:r>
              <a:rPr dirty="0"/>
              <a:t>36" T-OLED display | 170+ brand ecosystem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383280"/>
            <a:ext cx="73152" cy="685800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3680" y="34015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0015"/>
                </a:solidFill>
                <a:latin typeface="Calibri"/>
              </a:defRPr>
            </a:pPr>
            <a:r>
              <a:t>Bosch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34015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Agentic AI Cooking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365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Cook AI multi-appliance orchestration</a:t>
            </a:r>
            <a:br/>
            <a:r>
              <a:t>Lambda probe sensor fusion | Matter-first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160520"/>
            <a:ext cx="73152" cy="685800"/>
          </a:xfrm>
          <a:prstGeom prst="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80" y="41788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4B8D"/>
                </a:solidFill>
                <a:latin typeface="Calibri"/>
              </a:defRPr>
            </a:pPr>
            <a:r>
              <a:t>GE/Haier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41788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Practical AI at Every Tier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434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Edge AI privacy (images on-device) | Flavorly AI</a:t>
            </a:r>
            <a:br/>
            <a:r>
              <a:t>Barcode scanner | Instacart integration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4937760"/>
            <a:ext cx="73152" cy="685800"/>
          </a:xfrm>
          <a:prstGeom prst="rect">
            <a:avLst/>
          </a:prstGeom>
          <a:solidFill>
            <a:srgbClr val="C8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83680" y="4956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9623"/>
                </a:solidFill>
                <a:latin typeface="Calibri"/>
              </a:defRPr>
            </a:pPr>
            <a:r>
              <a:t>Whirlpool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0" y="49560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Camera AI + Yummly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5212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KitchenAid Intelligent Cooking Camera</a:t>
            </a:r>
            <a:br/>
            <a:r>
              <a:t>27M+ Yummly users | KBIS 2026 relaunch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5715000"/>
            <a:ext cx="73152" cy="685800"/>
          </a:xfrm>
          <a:prstGeom prst="rect">
            <a:avLst/>
          </a:prstGeom>
          <a:solidFill>
            <a:srgbClr val="6E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83680" y="57332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E1D24"/>
                </a:solidFill>
                <a:latin typeface="Calibri"/>
              </a:defRPr>
            </a:pPr>
            <a:r>
              <a:t>Miele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89520" y="5733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Precision-Engineering AI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5989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M Sense smart cookware (world first)</a:t>
            </a:r>
            <a:br/>
            <a:r>
              <a:t>80%+ AI diagnostic self-resolution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Source: CES 2025/2026, IFA 2025, KBIS 2026, manufacturer press releases, industry publications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AI Feature Comparison: Samsung vs Competition</a:t>
            </a: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ECB974C3-7BFB-71B4-2886-AC3EA94905E6}"/>
              </a:ext>
            </a:extLst>
          </p:cNvPr>
          <p:cNvGrpSpPr/>
          <p:nvPr/>
        </p:nvGrpSpPr>
        <p:grpSpPr>
          <a:xfrm>
            <a:off x="199239" y="805259"/>
            <a:ext cx="11612880" cy="5202936"/>
            <a:chOff x="228600" y="960120"/>
            <a:chExt cx="11612880" cy="5202936"/>
          </a:xfrm>
        </p:grpSpPr>
        <p:sp>
          <p:nvSpPr>
            <p:cNvPr id="4" name="Rectangle 3"/>
            <p:cNvSpPr/>
            <p:nvPr/>
          </p:nvSpPr>
          <p:spPr>
            <a:xfrm>
              <a:off x="228600" y="960120"/>
              <a:ext cx="1645920" cy="41148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28600" y="1005840"/>
              <a:ext cx="164592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Calibri"/>
                </a:defRPr>
              </a:pPr>
              <a:r>
                <a:t>AI CATEGORY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874520" y="960120"/>
              <a:ext cx="1783080" cy="411480"/>
            </a:xfrm>
            <a:prstGeom prst="rect">
              <a:avLst/>
            </a:prstGeom>
            <a:solidFill>
              <a:srgbClr val="1428A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874520" y="1005840"/>
              <a:ext cx="178308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Calibri"/>
                </a:defRPr>
              </a:pPr>
              <a:r>
                <a:t>SAMSUNG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657600" y="960120"/>
              <a:ext cx="1691640" cy="411480"/>
            </a:xfrm>
            <a:prstGeom prst="rect">
              <a:avLst/>
            </a:prstGeom>
            <a:solidFill>
              <a:srgbClr val="A50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57600" y="1005840"/>
              <a:ext cx="16916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Calibri"/>
                </a:defRPr>
              </a:pPr>
              <a:r>
                <a:t>LG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349240" y="960120"/>
              <a:ext cx="1691640" cy="411480"/>
            </a:xfrm>
            <a:prstGeom prst="rect">
              <a:avLst/>
            </a:prstGeom>
            <a:solidFill>
              <a:srgbClr val="E2001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49240" y="1005840"/>
              <a:ext cx="16916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Calibri"/>
                </a:defRPr>
              </a:pPr>
              <a:r>
                <a:t>BOSCH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040880" y="960120"/>
              <a:ext cx="1783080" cy="411480"/>
            </a:xfrm>
            <a:prstGeom prst="rect">
              <a:avLst/>
            </a:prstGeom>
            <a:solidFill>
              <a:srgbClr val="004B8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040880" y="1005840"/>
              <a:ext cx="178308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Calibri"/>
                </a:defRPr>
              </a:pPr>
              <a:r>
                <a:t>GE / HAIER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823960" y="960120"/>
              <a:ext cx="1600200" cy="411480"/>
            </a:xfrm>
            <a:prstGeom prst="rect">
              <a:avLst/>
            </a:prstGeom>
            <a:solidFill>
              <a:srgbClr val="C896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823960" y="1005840"/>
              <a:ext cx="160020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Calibri"/>
                </a:defRPr>
              </a:pPr>
              <a:r>
                <a:t>WHIRLPOOL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0424160" y="960120"/>
              <a:ext cx="1417320" cy="411480"/>
            </a:xfrm>
            <a:prstGeom prst="rect">
              <a:avLst/>
            </a:prstGeom>
            <a:solidFill>
              <a:srgbClr val="6E1D2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424160" y="1005840"/>
              <a:ext cx="141732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Calibri"/>
                </a:defRPr>
              </a:pPr>
              <a:r>
                <a:t>MIELE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28600" y="1371600"/>
              <a:ext cx="164592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20040" y="1435608"/>
              <a:ext cx="155448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333333"/>
                  </a:solidFill>
                  <a:latin typeface="Calibri"/>
                </a:defRPr>
              </a:pPr>
              <a:r>
                <a:t>Fridge Vision AI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874520" y="1371600"/>
              <a:ext cx="178308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874520" y="1435608"/>
              <a:ext cx="169164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1428A0"/>
                  </a:solidFill>
                  <a:latin typeface="Calibri"/>
                </a:defRPr>
              </a:pPr>
              <a:r>
                <a:t>★★★★★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657600" y="1371600"/>
              <a:ext cx="169164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657600" y="1435608"/>
              <a:ext cx="160020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★★★★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49240" y="1371600"/>
              <a:ext cx="169164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349240" y="1435608"/>
              <a:ext cx="160020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—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040880" y="1371600"/>
              <a:ext cx="178308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040880" y="1435608"/>
              <a:ext cx="169164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★★★★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823960" y="1371600"/>
              <a:ext cx="160020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823960" y="1435608"/>
              <a:ext cx="150876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424160" y="1371600"/>
              <a:ext cx="141732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424160" y="1435608"/>
              <a:ext cx="132588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28600" y="1801368"/>
              <a:ext cx="164592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20040" y="1865376"/>
              <a:ext cx="155448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333333"/>
                  </a:solidFill>
                  <a:latin typeface="Calibri"/>
                </a:defRPr>
              </a:pPr>
              <a:r>
                <a:t>Oven Cooking AI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874520" y="1801368"/>
              <a:ext cx="178308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874520" y="1865376"/>
              <a:ext cx="169164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★★★★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657600" y="1801368"/>
              <a:ext cx="169164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657600" y="1865376"/>
              <a:ext cx="160020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A50034"/>
                  </a:solidFill>
                  <a:latin typeface="Calibri"/>
                </a:defRPr>
              </a:pPr>
              <a:r>
                <a:t>★★★★★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5349240" y="1801368"/>
              <a:ext cx="169164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349240" y="1865376"/>
              <a:ext cx="160020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★★★★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7040880" y="1801368"/>
              <a:ext cx="178308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040880" y="1865376"/>
              <a:ext cx="169164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8823960" y="1801368"/>
              <a:ext cx="160020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823960" y="1865376"/>
              <a:ext cx="150876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0424160" y="1801368"/>
              <a:ext cx="141732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0424160" y="1865376"/>
              <a:ext cx="132588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28600" y="2231136"/>
              <a:ext cx="164592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20040" y="2295144"/>
              <a:ext cx="155448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333333"/>
                  </a:solidFill>
                  <a:latin typeface="Calibri"/>
                </a:defRPr>
              </a:pPr>
              <a:r>
                <a:t>Autonomous Cook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874520" y="2231136"/>
              <a:ext cx="178308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874520" y="2295144"/>
              <a:ext cx="169164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657600" y="2231136"/>
              <a:ext cx="169164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657600" y="2295144"/>
              <a:ext cx="160020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★★★★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349240" y="2231136"/>
              <a:ext cx="169164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349240" y="2295144"/>
              <a:ext cx="160020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E20015"/>
                  </a:solidFill>
                  <a:latin typeface="Calibri"/>
                </a:defRPr>
              </a:pPr>
              <a:r>
                <a:t>★★★★★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040880" y="2231136"/>
              <a:ext cx="178308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040880" y="2295144"/>
              <a:ext cx="169164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8823960" y="2231136"/>
              <a:ext cx="160020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823960" y="2295144"/>
              <a:ext cx="150876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0424160" y="2231136"/>
              <a:ext cx="141732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0424160" y="2295144"/>
              <a:ext cx="132588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28600" y="2660904"/>
              <a:ext cx="164592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20040" y="2724912"/>
              <a:ext cx="155448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333333"/>
                  </a:solidFill>
                  <a:latin typeface="Calibri"/>
                </a:defRPr>
              </a:pPr>
              <a:r>
                <a:t>Voice / Conv. AI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874520" y="2660904"/>
              <a:ext cx="178308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874520" y="2724912"/>
              <a:ext cx="169164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1428A0"/>
                  </a:solidFill>
                  <a:latin typeface="Calibri"/>
                </a:defRPr>
              </a:pPr>
              <a:r>
                <a:t>★★★★★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3657600" y="2660904"/>
              <a:ext cx="169164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3657600" y="2724912"/>
              <a:ext cx="160020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★★★★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349240" y="2660904"/>
              <a:ext cx="169164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349240" y="2724912"/>
              <a:ext cx="160020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7040880" y="2660904"/>
              <a:ext cx="178308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040880" y="2724912"/>
              <a:ext cx="169164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8823960" y="2660904"/>
              <a:ext cx="160020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8823960" y="2724912"/>
              <a:ext cx="150876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0424160" y="2660904"/>
              <a:ext cx="141732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0424160" y="2724912"/>
              <a:ext cx="132588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28600" y="3090672"/>
              <a:ext cx="164592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320040" y="3154680"/>
              <a:ext cx="155448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333333"/>
                  </a:solidFill>
                  <a:latin typeface="Calibri"/>
                </a:defRPr>
              </a:pPr>
              <a:r>
                <a:t>Energy Optim.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874520" y="3090672"/>
              <a:ext cx="178308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1874520" y="3154680"/>
              <a:ext cx="169164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1428A0"/>
                  </a:solidFill>
                  <a:latin typeface="Calibri"/>
                </a:defRPr>
              </a:pPr>
              <a:r>
                <a:t>★★★★★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3657600" y="3090672"/>
              <a:ext cx="169164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3657600" y="3154680"/>
              <a:ext cx="160020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★★★★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5349240" y="3090672"/>
              <a:ext cx="169164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349240" y="3154680"/>
              <a:ext cx="160020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7040880" y="3090672"/>
              <a:ext cx="178308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7040880" y="3154680"/>
              <a:ext cx="169164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★★★★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8823960" y="3090672"/>
              <a:ext cx="160020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8823960" y="3154680"/>
              <a:ext cx="150876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10424160" y="3090672"/>
              <a:ext cx="141732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0424160" y="3154680"/>
              <a:ext cx="132588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228600" y="3520440"/>
              <a:ext cx="164592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320040" y="3584448"/>
              <a:ext cx="155448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333333"/>
                  </a:solidFill>
                  <a:latin typeface="Calibri"/>
                </a:defRPr>
              </a:pPr>
              <a:r>
                <a:t>Recipe AI Platform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1874520" y="3520440"/>
              <a:ext cx="178308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874520" y="3584448"/>
              <a:ext cx="169164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★★★★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3657600" y="3520440"/>
              <a:ext cx="169164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657600" y="3584448"/>
              <a:ext cx="160020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</a:t>
              </a: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5349240" y="3520440"/>
              <a:ext cx="169164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5349240" y="3584448"/>
              <a:ext cx="160020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★★★★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7040880" y="3520440"/>
              <a:ext cx="178308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7040880" y="3584448"/>
              <a:ext cx="169164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004B8D"/>
                  </a:solidFill>
                  <a:latin typeface="Calibri"/>
                </a:defRPr>
              </a:pPr>
              <a:r>
                <a:t>★★★★★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8823960" y="3520440"/>
              <a:ext cx="160020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8823960" y="3584448"/>
              <a:ext cx="150876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10424160" y="3520440"/>
              <a:ext cx="141732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0424160" y="3584448"/>
              <a:ext cx="132588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</a:t>
              </a: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228600" y="3950208"/>
              <a:ext cx="164592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20040" y="4014216"/>
              <a:ext cx="155448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333333"/>
                  </a:solidFill>
                  <a:latin typeface="Calibri"/>
                </a:defRPr>
              </a:pPr>
              <a:r>
                <a:t>Maintenance AI</a:t>
              </a: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874520" y="3950208"/>
              <a:ext cx="178308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1874520" y="4014216"/>
              <a:ext cx="169164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★★★★</a:t>
              </a: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3657600" y="3950208"/>
              <a:ext cx="169164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3657600" y="4014216"/>
              <a:ext cx="160020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★★★★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5349240" y="3950208"/>
              <a:ext cx="169164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5349240" y="4014216"/>
              <a:ext cx="160020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</a:t>
              </a: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7040880" y="3950208"/>
              <a:ext cx="178308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7040880" y="4014216"/>
              <a:ext cx="169164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</a:t>
              </a: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8823960" y="3950208"/>
              <a:ext cx="160020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8823960" y="4014216"/>
              <a:ext cx="150876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</a:t>
              </a: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10424160" y="3950208"/>
              <a:ext cx="141732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10424160" y="4014216"/>
              <a:ext cx="132588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6E1D24"/>
                  </a:solidFill>
                  <a:latin typeface="Calibri"/>
                </a:defRPr>
              </a:pPr>
              <a:r>
                <a:t>★★★★★</a:t>
              </a: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228600" y="4379976"/>
              <a:ext cx="164592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320040" y="4443984"/>
              <a:ext cx="155448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333333"/>
                  </a:solidFill>
                  <a:latin typeface="Calibri"/>
                </a:defRPr>
              </a:pPr>
              <a:r>
                <a:t>Sensor Innovation</a:t>
              </a:r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1874520" y="4379976"/>
              <a:ext cx="178308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1874520" y="4443984"/>
              <a:ext cx="169164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★★★★</a:t>
              </a:r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3657600" y="4379976"/>
              <a:ext cx="169164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3657600" y="4443984"/>
              <a:ext cx="160020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</a:t>
              </a:r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5349240" y="4379976"/>
              <a:ext cx="169164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5349240" y="4443984"/>
              <a:ext cx="160020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E20015"/>
                  </a:solidFill>
                  <a:latin typeface="Calibri"/>
                </a:defRPr>
              </a:pPr>
              <a:r>
                <a:t>★★★★★</a:t>
              </a:r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7040880" y="4379976"/>
              <a:ext cx="178308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7040880" y="4443984"/>
              <a:ext cx="169164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</a:t>
              </a:r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8823960" y="4379976"/>
              <a:ext cx="160020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8823960" y="4443984"/>
              <a:ext cx="150876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</a:t>
              </a:r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10424160" y="4379976"/>
              <a:ext cx="141732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0424160" y="4443984"/>
              <a:ext cx="132588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6E1D24"/>
                  </a:solidFill>
                  <a:latin typeface="Calibri"/>
                </a:defRPr>
              </a:pPr>
              <a:r>
                <a:t>★★★★★</a:t>
              </a:r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228600" y="4809744"/>
              <a:ext cx="164592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320040" y="4873752"/>
              <a:ext cx="155448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333333"/>
                  </a:solidFill>
                  <a:latin typeface="Calibri"/>
                </a:defRPr>
              </a:pPr>
              <a:r>
                <a:t>Ecosystem Breadth</a:t>
              </a:r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1874520" y="4809744"/>
              <a:ext cx="178308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1874520" y="4873752"/>
              <a:ext cx="169164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1428A0"/>
                  </a:solidFill>
                  <a:latin typeface="Calibri"/>
                </a:defRPr>
              </a:pPr>
              <a:r>
                <a:t>★★★★★</a:t>
              </a:r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3657600" y="4809744"/>
              <a:ext cx="169164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3657600" y="4873752"/>
              <a:ext cx="160020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★★★★</a:t>
              </a: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5349240" y="4809744"/>
              <a:ext cx="169164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5349240" y="4873752"/>
              <a:ext cx="160020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★★★★</a:t>
              </a:r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7040880" y="4809744"/>
              <a:ext cx="178308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7040880" y="4873752"/>
              <a:ext cx="169164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★★★★</a:t>
              </a:r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8823960" y="4809744"/>
              <a:ext cx="160020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8823960" y="4873752"/>
              <a:ext cx="150876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</a:t>
              </a:r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10424160" y="4809744"/>
              <a:ext cx="141732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10424160" y="4873752"/>
              <a:ext cx="132588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</a:t>
              </a:r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228600" y="5239512"/>
              <a:ext cx="164592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320040" y="5303520"/>
              <a:ext cx="155448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333333"/>
                  </a:solidFill>
                  <a:latin typeface="Calibri"/>
                </a:defRPr>
              </a:pPr>
              <a:r>
                <a:t>Edge AI / Privacy</a:t>
              </a:r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1874520" y="5239512"/>
              <a:ext cx="178308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1874520" y="5303520"/>
              <a:ext cx="169164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</a:t>
              </a:r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3657600" y="5239512"/>
              <a:ext cx="169164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3657600" y="5303520"/>
              <a:ext cx="160020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★★★★</a:t>
              </a:r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5349240" y="5239512"/>
              <a:ext cx="169164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5349240" y="5303520"/>
              <a:ext cx="160020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</a:t>
              </a:r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7040880" y="5239512"/>
              <a:ext cx="178308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7040880" y="5303520"/>
              <a:ext cx="169164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004B8D"/>
                  </a:solidFill>
                  <a:latin typeface="Calibri"/>
                </a:defRPr>
              </a:pPr>
              <a:r>
                <a:t>★★★★★</a:t>
              </a:r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8823960" y="5239512"/>
              <a:ext cx="160020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8823960" y="5303520"/>
              <a:ext cx="150876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</a:t>
              </a:r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10424160" y="5239512"/>
              <a:ext cx="1417320" cy="4297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10424160" y="5303520"/>
              <a:ext cx="132588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★★★★</a:t>
              </a:r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228600" y="5669280"/>
              <a:ext cx="164592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320040" y="5733288"/>
              <a:ext cx="155448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333333"/>
                  </a:solidFill>
                  <a:latin typeface="Calibri"/>
                </a:defRPr>
              </a:pPr>
              <a:r>
                <a:t>Security</a:t>
              </a:r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1874520" y="5669280"/>
              <a:ext cx="178308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1874520" y="5733288"/>
              <a:ext cx="169164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1428A0"/>
                  </a:solidFill>
                  <a:latin typeface="Calibri"/>
                </a:defRPr>
              </a:pPr>
              <a:r>
                <a:t>★★★★★</a:t>
              </a:r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3657600" y="5669280"/>
              <a:ext cx="169164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3657600" y="5733288"/>
              <a:ext cx="160020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</a:t>
              </a:r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5349240" y="5669280"/>
              <a:ext cx="169164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5349240" y="5733288"/>
              <a:ext cx="160020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</a:t>
              </a:r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7040880" y="5669280"/>
              <a:ext cx="178308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7040880" y="5733288"/>
              <a:ext cx="169164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★★★★</a:t>
              </a:r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8823960" y="5669280"/>
              <a:ext cx="160020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8823960" y="5733288"/>
              <a:ext cx="150876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</a:t>
              </a:r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10424160" y="5669280"/>
              <a:ext cx="1417320" cy="429768"/>
            </a:xfrm>
            <a:prstGeom prst="rect">
              <a:avLst/>
            </a:prstGeom>
            <a:solidFill>
              <a:srgbClr val="F2F2F5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10424160" y="5733288"/>
              <a:ext cx="1325880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33333"/>
                  </a:solidFill>
                  <a:latin typeface="Calibri"/>
                </a:defRPr>
              </a:pPr>
              <a:r>
                <a:t>★★★</a:t>
              </a:r>
            </a:p>
          </p:txBody>
        </p:sp>
      </p:grpSp>
      <p:sp>
        <p:nvSpPr>
          <p:cNvPr id="172" name="TextBox 171"/>
          <p:cNvSpPr txBox="1"/>
          <p:nvPr/>
        </p:nvSpPr>
        <p:spPr>
          <a:xfrm>
            <a:off x="336398" y="5961888"/>
            <a:ext cx="545200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rPr dirty="0"/>
              <a:t>★★★★★ = Category Leader    ★★★★ = Strong    ★★★ = Competitive    ★★ = Developing    — = Not Available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28600" y="6178003"/>
            <a:ext cx="11704320" cy="617080"/>
          </a:xfrm>
          <a:prstGeom prst="rect">
            <a:avLst/>
          </a:prstGeom>
          <a:solidFill>
            <a:srgbClr val="FEF3E2"/>
          </a:solidFill>
          <a:ln w="1905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336398" y="6246583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>
                <a:solidFill>
                  <a:srgbClr val="E68A00"/>
                </a:solidFill>
                <a:latin typeface="Calibri"/>
              </a:rPr>
              <a:t>KEY INSIGHT: </a:t>
            </a:r>
            <a:r>
              <a:rPr sz="950" dirty="0">
                <a:solidFill>
                  <a:srgbClr val="333333"/>
                </a:solidFill>
                <a:latin typeface="Calibri"/>
              </a:rPr>
              <a:t>Samsung leads in 4 of 11 categories (Fridge Vision, Voice AI, Energy, Ecosystem, Security) but faces category-leading competition from Bosch (Autonomous Cooking, Sensor Innovation), Miele (Maintenance AI, Sensor Innovation), GE (Recipe AI, Edge Privacy), and LG (Oven AI, On-Device LLM). No single brand dominates all categories.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Competitive Gaps: Where Samsung Must Respond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CCCC"/>
                </a:solidFill>
                <a:latin typeface="Calibri"/>
              </a:defRPr>
            </a:pPr>
            <a:r>
              <a:t>● HIGH    ● MEDIUM-HIGH    ● MEDIUM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3703320" cy="2606040"/>
          </a:xfrm>
          <a:prstGeom prst="roundRect">
            <a:avLst/>
          </a:prstGeom>
          <a:solidFill>
            <a:srgbClr val="F2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703320" cy="54864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20015"/>
                </a:solidFill>
                <a:latin typeface="Calibri"/>
              </a:defRPr>
            </a:pPr>
            <a:r>
              <a:t>BOSCH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09728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D42B2B"/>
                </a:solidFill>
                <a:latin typeface="Calibri"/>
              </a:defRPr>
            </a:pPr>
            <a:r>
              <a:t>●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2588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Agentic AI Cooking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002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66666"/>
                </a:solidFill>
                <a:latin typeface="Calibri"/>
              </a:defRPr>
            </a:pPr>
            <a:r>
              <a:t>Cook AI orchestrates cooktop + oven + probe simultaneously with minimal user input. Samsung's AI Pro Cooking is single-appliance only.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10312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Cook AI: photo ingredients → specify outcome → AI coordinates multiple appliances. Can cook multiple steaks to different doneness levels. Uses lambda probe (automotive O₂ sensor) + PerfectBake moisture sensor for triple-sensor feedback.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72968"/>
            <a:ext cx="3520440" cy="34747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20954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D42B2B"/>
                </a:solidFill>
                <a:latin typeface="Calibri"/>
              </a:rPr>
              <a:t>IMPACT: </a:t>
            </a:r>
            <a:r>
              <a:rPr sz="750">
                <a:solidFill>
                  <a:srgbClr val="333333"/>
                </a:solidFill>
                <a:latin typeface="Calibri"/>
              </a:rPr>
              <a:t>Samsung lacks multi-appliance cooking orchestration -- a generation behind in autonomous cooking.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1005840"/>
            <a:ext cx="3703320" cy="2606040"/>
          </a:xfrm>
          <a:prstGeom prst="roundRect">
            <a:avLst/>
          </a:prstGeom>
          <a:solidFill>
            <a:srgbClr val="F2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14800" y="1005840"/>
            <a:ext cx="3703320" cy="54864"/>
          </a:xfrm>
          <a:prstGeom prst="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60" y="1097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4B8D"/>
                </a:solidFill>
                <a:latin typeface="Calibri"/>
              </a:defRPr>
            </a:pPr>
            <a:r>
              <a:t>GE / HAIER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109728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68A00"/>
                </a:solidFill>
                <a:latin typeface="Calibri"/>
              </a:defRPr>
            </a:pPr>
            <a:r>
              <a:t>● MED-HIGH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132588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Edge AI 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16002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66666"/>
                </a:solidFill>
                <a:latin typeface="Calibri"/>
              </a:defRPr>
            </a:pPr>
            <a:r>
              <a:t>CookCam AI: "Images stay on the device, not in the cloud." Samsung's Gemini shift sends food images to Google Cloud.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210312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GE splits architecture: visual data on-device (privacy), generative features in cloud (capability). Haier HomeGPT is Level 4 certified edge LLM -- full offline AI. Samsung moving opposite direction with cloud dependency.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172968"/>
            <a:ext cx="3520440" cy="34747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97680" y="320954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D42B2B"/>
                </a:solidFill>
                <a:latin typeface="Calibri"/>
              </a:rPr>
              <a:t>IMPACT: </a:t>
            </a:r>
            <a:r>
              <a:rPr sz="750">
                <a:solidFill>
                  <a:srgbClr val="333333"/>
                </a:solidFill>
                <a:latin typeface="Calibri"/>
              </a:rPr>
              <a:t>Growing privacy awareness + 15-20yr appliance lifespan vs. cloud API uncertainty.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80" y="1005840"/>
            <a:ext cx="3703320" cy="2606040"/>
          </a:xfrm>
          <a:prstGeom prst="roundRect">
            <a:avLst/>
          </a:prstGeom>
          <a:solidFill>
            <a:srgbClr val="F2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55280" y="1005840"/>
            <a:ext cx="3703320" cy="54864"/>
          </a:xfrm>
          <a:prstGeom prst="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2440" y="1097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4B8D"/>
                </a:solidFill>
                <a:latin typeface="Calibri"/>
              </a:defRPr>
            </a:pPr>
            <a:r>
              <a:t>GE / HAIER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109728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68A00"/>
                </a:solidFill>
                <a:latin typeface="Calibri"/>
              </a:defRPr>
            </a:pPr>
            <a:r>
              <a:t>● 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132588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Generative Recipe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16002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66666"/>
                </a:solidFill>
                <a:latin typeface="Calibri"/>
              </a:defRPr>
            </a:pPr>
            <a:r>
              <a:t>Flavorly AI (Google Gemini/Vertex): photo-to-recipe reverse engineering, handwritten recipe digitization, Instacart integration.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10312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Features Samsung Food doesn't offer: photograph a restaurant dish → AI recreates recipe. Photo family recipes → digital conversion. Recipe-to-Instacart delivery in 30 min. Available without buying any GE appliance.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3172968"/>
            <a:ext cx="3520440" cy="34747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38160" y="320954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D42B2B"/>
                </a:solidFill>
                <a:latin typeface="Calibri"/>
              </a:rPr>
              <a:t>IMPACT: </a:t>
            </a:r>
            <a:r>
              <a:rPr sz="750">
                <a:solidFill>
                  <a:srgbClr val="333333"/>
                </a:solidFill>
                <a:latin typeface="Calibri"/>
              </a:rPr>
              <a:t>GE's recipe platform is more capable and accessible than Samsung Food.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3749040"/>
            <a:ext cx="3703320" cy="2606040"/>
          </a:xfrm>
          <a:prstGeom prst="roundRect">
            <a:avLst/>
          </a:prstGeom>
          <a:solidFill>
            <a:srgbClr val="F2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" y="3749040"/>
            <a:ext cx="3703320" cy="54864"/>
          </a:xfrm>
          <a:prstGeom prst="rect">
            <a:avLst/>
          </a:prstGeom>
          <a:solidFill>
            <a:srgbClr val="6E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3840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E1D24"/>
                </a:solidFill>
                <a:latin typeface="Calibri"/>
              </a:defRPr>
            </a:pPr>
            <a:r>
              <a:t>MIELE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384048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68A00"/>
                </a:solidFill>
                <a:latin typeface="Calibri"/>
              </a:defRPr>
            </a:pPr>
            <a:r>
              <a:t>● 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06908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Smart Cookware Sensors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3434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66666"/>
                </a:solidFill>
                <a:latin typeface="Calibri"/>
              </a:defRPr>
            </a:pPr>
            <a:r>
              <a:t>M Sense: world's first cookware with 3 embedded temp sensors + DirectTouch controls. Samsung has no smart cookware strategy.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484632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Cookware communicates with KM 8000 induction hob via multi-patented tech. Auto-adjusts power. Prevents overcooking/burning. Ships April 2026. Likely to spawn competitor products industry-wide.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916168"/>
            <a:ext cx="3520440" cy="34747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595274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D42B2B"/>
                </a:solidFill>
                <a:latin typeface="Calibri"/>
              </a:rPr>
              <a:t>IMPACT: </a:t>
            </a:r>
            <a:r>
              <a:rPr sz="750">
                <a:solidFill>
                  <a:srgbClr val="333333"/>
                </a:solidFill>
                <a:latin typeface="Calibri"/>
              </a:rPr>
              <a:t>New category Samsung doesn't compete in. Sensors in cookware, not just appliances.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0" y="3749040"/>
            <a:ext cx="3703320" cy="2606040"/>
          </a:xfrm>
          <a:prstGeom prst="roundRect">
            <a:avLst/>
          </a:prstGeom>
          <a:solidFill>
            <a:srgbClr val="F2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114800" y="3749040"/>
            <a:ext cx="3703320" cy="54864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51960" y="3840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50034"/>
                </a:solidFill>
                <a:latin typeface="Calibri"/>
              </a:defRPr>
            </a:pPr>
            <a:r>
              <a:t>LG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384048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68A00"/>
                </a:solidFill>
                <a:latin typeface="Calibri"/>
              </a:defRPr>
            </a:pPr>
            <a:r>
              <a:t>● MEDIUM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51960" y="406908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On-Device LLM in Appliances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51960" y="43434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66666"/>
                </a:solidFill>
                <a:latin typeface="Calibri"/>
              </a:defRPr>
            </a:pPr>
            <a:r>
              <a:t>EXAONE 4.0 (1.2B params) runs locally on SIGNATURE fridge. Offers privacy + offline AI. Samsung's Bixby/Gemini is cloud-dependent.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51960" y="484632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LG is first with proprietary LLM in kitchen appliance. EXAONE 4.5 (MWC 2026) adds vision-language capability. K-EXAONE global expansion with 200MW AI data center (120K GPUs). Asia first, then US.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5916168"/>
            <a:ext cx="3520440" cy="34747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97680" y="595274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D42B2B"/>
                </a:solidFill>
                <a:latin typeface="Calibri"/>
              </a:rPr>
              <a:t>IMPACT: </a:t>
            </a:r>
            <a:r>
              <a:rPr sz="750">
                <a:solidFill>
                  <a:srgbClr val="333333"/>
                </a:solidFill>
                <a:latin typeface="Calibri"/>
              </a:rPr>
              <a:t>On-device LLMs will proliferate as consumer privacy awareness grows.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55280" y="3749040"/>
            <a:ext cx="3703320" cy="2606040"/>
          </a:xfrm>
          <a:prstGeom prst="roundRect">
            <a:avLst/>
          </a:prstGeom>
          <a:solidFill>
            <a:srgbClr val="F2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955280" y="3749040"/>
            <a:ext cx="3703320" cy="54864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92440" y="3840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20015"/>
                </a:solidFill>
                <a:latin typeface="Calibri"/>
              </a:defRPr>
            </a:pPr>
            <a:r>
              <a:t>BOSCH / BSH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69880" y="384048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68A00"/>
                </a:solidFill>
                <a:latin typeface="Calibri"/>
              </a:defRPr>
            </a:pPr>
            <a:r>
              <a:t>● MEDIUM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406908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Matter-First Ecosystem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43434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66666"/>
                </a:solidFill>
                <a:latin typeface="Calibri"/>
              </a:defRPr>
            </a:pPr>
            <a:r>
              <a:t>BSH was first globally to ship Matter-enabled appliance. Open API with 80+ features. May erode Samsung's SmartThings lock-in.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92440" y="484632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As Matter adoption accelerates (750+ certified products), proprietary ecosystems lose value. BSH's open approach + 5 brands (Bosch, Siemens, Gaggenau, Neff, Thermador) creates broad interoperable network.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46720" y="5916168"/>
            <a:ext cx="3520440" cy="34747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38160" y="595274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D42B2B"/>
                </a:solidFill>
                <a:latin typeface="Calibri"/>
              </a:rPr>
              <a:t>IMPACT: </a:t>
            </a:r>
            <a:r>
              <a:rPr sz="750">
                <a:solidFill>
                  <a:srgbClr val="333333"/>
                </a:solidFill>
                <a:latin typeface="Calibri"/>
              </a:rPr>
              <a:t>SmartThings advantage may diminish as Matter standardizes cross-brand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Strategic Takeaways &amp; Recommended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8A0"/>
                </a:solidFill>
                <a:latin typeface="Calibri"/>
              </a:defRPr>
            </a:pPr>
            <a:r>
              <a:t>PRIORITY ACTIONS FOR SAMSUNG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36576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7200" y="1554480"/>
            <a:ext cx="365760" cy="365760"/>
          </a:xfrm>
          <a:prstGeom prst="ellipse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727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D42B2B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361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333333"/>
                </a:solidFill>
                <a:latin typeface="Calibri"/>
              </a:defRPr>
            </a:pPr>
            <a:r>
              <a:t>Build Multi-Appliance Cooking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Develop Samsung's answer to Bosch Cook AI -- coordinate fridge, cooktop, and oven from a single AI system. Leverage SmartThings infrastructure for cross-appliance real-time control during cooking.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788920"/>
            <a:ext cx="365760" cy="365760"/>
          </a:xfrm>
          <a:prstGeom prst="ellipse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80720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D42B2B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706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333333"/>
                </a:solidFill>
                <a:latin typeface="Calibri"/>
              </a:defRPr>
            </a:pPr>
            <a:r>
              <a:t>Adopt Hybrid Edge-Cloud AI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6324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Keep camera/visual data on-device (match GE's privacy standard) while using Gemini cloud for generative features. Addresses 47% of users worried about data breaches.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023360"/>
            <a:ext cx="365760" cy="36576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04164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68A00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050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333333"/>
                </a:solidFill>
                <a:latin typeface="Calibri"/>
              </a:defRPr>
            </a:pPr>
            <a:r>
              <a:t>Enhance Samsung Food with Generative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29768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Add photo-to-recipe (restaurant dish → recipe), handwritten recipe digitization, and grocery delivery integration to match Flavorly AI capabilities.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5257800"/>
            <a:ext cx="365760" cy="36576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27608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68A00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2395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333333"/>
                </a:solidFill>
                <a:latin typeface="Calibri"/>
              </a:defRPr>
            </a:pPr>
            <a:r>
              <a:t>Invest in Advanced Cooking Sensors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53212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Evaluate lambda-probe-equivalent sensors (Bosch) and smart cookware partnerships (Miele M Sense model). New sensor data improves AI cooking accuracy.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8A0"/>
                </a:solidFill>
                <a:latin typeface="Calibri"/>
              </a:defRPr>
            </a:pPr>
            <a:r>
              <a:t>WHERE SAMSUNG LEADS vs TRAILS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371600"/>
            <a:ext cx="5303520" cy="36576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1554480"/>
            <a:ext cx="5303520" cy="2926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15727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7B3F"/>
                </a:solidFill>
                <a:latin typeface="Calibri"/>
              </a:defRPr>
            </a:pPr>
            <a:r>
              <a:t>SAMSUNG LEADS (5 of 11 categories)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1920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0F7B3F"/>
                </a:solidFill>
                <a:latin typeface="Calibri"/>
              </a:rPr>
              <a:t>✓ Fridge Food Recognition: </a:t>
            </a:r>
            <a:r>
              <a:rPr sz="850">
                <a:solidFill>
                  <a:srgbClr val="666666"/>
                </a:solidFill>
                <a:latin typeface="Calibri"/>
              </a:rPr>
              <a:t>Google Gemini multimodal — most advanced AI partner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0F7B3F"/>
                </a:solidFill>
                <a:latin typeface="Calibri"/>
              </a:rPr>
              <a:t>✓ Voice AI: </a:t>
            </a:r>
            <a:r>
              <a:rPr sz="850">
                <a:solidFill>
                  <a:srgbClr val="666666"/>
                </a:solidFill>
                <a:latin typeface="Calibri"/>
              </a:rPr>
              <a:t>Only brand with Voice ID multi-user + built-in mic/speaker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0F7B3F"/>
                </a:solidFill>
                <a:latin typeface="Calibri"/>
              </a:rPr>
              <a:t>✓ Energy Optimization: </a:t>
            </a:r>
            <a:r>
              <a:rPr sz="850">
                <a:solidFill>
                  <a:srgbClr val="666666"/>
                </a:solidFill>
                <a:latin typeface="Calibri"/>
              </a:rPr>
              <a:t>Unique AI Hybrid Cooling (Peltier + compressor)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0F7B3F"/>
                </a:solidFill>
                <a:latin typeface="Calibri"/>
              </a:rPr>
              <a:t>✓ Smart Home Ecosystem: </a:t>
            </a:r>
            <a:r>
              <a:rPr sz="850">
                <a:solidFill>
                  <a:srgbClr val="666666"/>
                </a:solidFill>
                <a:latin typeface="Calibri"/>
              </a:rPr>
              <a:t>SmartThings unmatched cross-device breadth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0F7B3F"/>
                </a:solidFill>
                <a:latin typeface="Calibri"/>
              </a:rPr>
              <a:t>✓ Security: </a:t>
            </a:r>
            <a:r>
              <a:rPr sz="850">
                <a:solidFill>
                  <a:srgbClr val="666666"/>
                </a:solidFill>
                <a:latin typeface="Calibri"/>
              </a:rPr>
              <a:t>Knox Matrix hardware chip + blockchain — no competitor close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794760"/>
            <a:ext cx="5303520" cy="29260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38130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2B2B"/>
                </a:solidFill>
                <a:latin typeface="Calibri"/>
              </a:defRPr>
            </a:pPr>
            <a:r>
              <a:t>COMPETITORS LEAD (Samsung must close gaps)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142232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D42B2B"/>
                </a:solidFill>
                <a:latin typeface="Calibri"/>
              </a:rPr>
              <a:t>✗ Autonomous Cooking: </a:t>
            </a:r>
            <a:r>
              <a:rPr sz="850">
                <a:solidFill>
                  <a:srgbClr val="666666"/>
                </a:solidFill>
                <a:latin typeface="Calibri"/>
              </a:rPr>
              <a:t>Bosch Cook AI — multi-appliance orchestration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D42B2B"/>
                </a:solidFill>
                <a:latin typeface="Calibri"/>
              </a:rPr>
              <a:t>✗ Sensor Innovation: </a:t>
            </a:r>
            <a:r>
              <a:rPr sz="850">
                <a:solidFill>
                  <a:srgbClr val="666666"/>
                </a:solidFill>
                <a:latin typeface="Calibri"/>
              </a:rPr>
              <a:t>Bosch (lambda probe) + Miele (M Sense cookware) — unique sensors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D42B2B"/>
                </a:solidFill>
                <a:latin typeface="Calibri"/>
              </a:rPr>
              <a:t>✗ Recipe AI: </a:t>
            </a:r>
            <a:r>
              <a:rPr sz="850">
                <a:solidFill>
                  <a:srgbClr val="666666"/>
                </a:solidFill>
                <a:latin typeface="Calibri"/>
              </a:rPr>
              <a:t>GE Flavorly AI — most capable generative platform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D42B2B"/>
                </a:solidFill>
                <a:latin typeface="Calibri"/>
              </a:rPr>
              <a:t>✗ Maintenance AI: </a:t>
            </a:r>
            <a:r>
              <a:rPr sz="850">
                <a:solidFill>
                  <a:srgbClr val="666666"/>
                </a:solidFill>
                <a:latin typeface="Calibri"/>
              </a:rPr>
              <a:t>Miele AI Diagnostics — 80%+ self-resolution rate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D42B2B"/>
                </a:solidFill>
                <a:latin typeface="Calibri"/>
              </a:rPr>
              <a:t>✗ Edge AI / Privacy: </a:t>
            </a:r>
            <a:r>
              <a:rPr sz="850">
                <a:solidFill>
                  <a:srgbClr val="666666"/>
                </a:solidFill>
                <a:latin typeface="Calibri"/>
              </a:rPr>
              <a:t>GE/Haier — images on-device, HomeGPT certified edge LLM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D42B2B"/>
                </a:solidFill>
                <a:latin typeface="Calibri"/>
              </a:rPr>
              <a:t>✗ Display Tech: </a:t>
            </a:r>
            <a:r>
              <a:rPr sz="850">
                <a:solidFill>
                  <a:srgbClr val="666666"/>
                </a:solidFill>
                <a:latin typeface="Calibri"/>
              </a:rPr>
              <a:t>LG T-OLED — 36" transparent OLED on fridge — industry first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336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D1A6B"/>
                </a:solidFill>
                <a:latin typeface="Calibri"/>
              </a:rPr>
              <a:t>2026-2028 OUTLOOK: </a:t>
            </a:r>
            <a:r>
              <a:rPr sz="900">
                <a:solidFill>
                  <a:srgbClr val="666666"/>
                </a:solidFill>
                <a:latin typeface="Calibri"/>
              </a:rPr>
              <a:t>Agentic AI cooking becomes standard for premium appliances  |  On-device LLMs proliferate (privacy)  |  Matter adoption erodes proprietary ecosystems  |  Smart cookware spawns new product category  |  Generative recipe AI becomes table stakes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1332</Words>
  <Application>Microsoft Office PowerPoint</Application>
  <PresentationFormat>Widescreen</PresentationFormat>
  <Paragraphs>197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Ashutosh Singh</cp:lastModifiedBy>
  <cp:revision>3</cp:revision>
  <dcterms:created xsi:type="dcterms:W3CDTF">2013-01-27T09:14:16Z</dcterms:created>
  <dcterms:modified xsi:type="dcterms:W3CDTF">2026-03-10T04:05:52Z</dcterms:modified>
  <cp:category/>
</cp:coreProperties>
</file>