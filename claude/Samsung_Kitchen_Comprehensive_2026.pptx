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Samsung Kitchen: Product &amp; AI Ecosystem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E8"/>
                </a:solidFill>
                <a:latin typeface="Calibri"/>
              </a:defRPr>
            </a:pPr>
            <a:r>
              <a:t>Comprehensive Product Research  |  March 2026  | 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02920"/>
          </a:xfrm>
          <a:prstGeom prst="rect">
            <a:avLst/>
          </a:prstGeom>
          <a:solidFill>
            <a:srgbClr val="F0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$311B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Global Kitchen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84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424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Samsung Smart Kitchen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84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4.55/5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424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Composite KPI Score (#1)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84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425M+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0424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SmartThings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84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A0"/>
                </a:solidFill>
                <a:latin typeface="Calibri"/>
              </a:defRPr>
            </a:pPr>
            <a:r>
              <a:t>9,304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0424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US Patents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  <a:latin typeface="Calibri"/>
              </a:defRPr>
            </a:pPr>
            <a:r>
              <a:t>SAMSUNG KEY PRODUCT DIFFERENTIATORS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91640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1691640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73736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Bespoke Design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8-14 color panels, MyBespoke custom options. Unmatched aesthetic</a:t>
            </a:r>
            <a:br/>
            <a:r>
              <a:t>customization at mass-premium scale. Strong in US and Korea.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32304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2432304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78024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AI Family Hub+ (32" Display)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609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Largest touchscreen in industry. Google Gemini integration.</a:t>
            </a:r>
            <a:br/>
            <a:r>
              <a:t>AI Vision recognizes 1000s of items. Now Brief, FoodNote, streaming.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72968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3172968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18688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AI Hybrid Cooling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01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World-first compressor + Peltier dual cooling. Pork freshness 1.4x,</a:t>
            </a:r>
            <a:br/>
            <a:r>
              <a:t>salmon 1.2x extended. Johns Hopkins APL: refrigerant-free future.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13632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3913632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5935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AI Pro Cooking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422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Internal oven camera (500°F hardened). 80 dish recognition.</a:t>
            </a:r>
            <a:br/>
            <a:r>
              <a:t>Burn detection via pixel browning rate. Personalized settings after 5 cooks.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4654296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001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SmartThings Ecosystem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828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Broadest integration: phones, TVs, wearables, appliances.</a:t>
            </a:r>
            <a:br/>
            <a:r>
              <a:t>Matter 1.5 (camera support first). Knox Matrix post-quantum security.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94960"/>
            <a:ext cx="73152" cy="66751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" y="5394960"/>
            <a:ext cx="5413248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Samsung Food + Gemini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160K+ recipes, 40K+ ingredient recognition via phone camera.</a:t>
            </a:r>
            <a:br/>
            <a:r>
              <a:t>7-day meal plans, grocery lists. Google Gemini multimodal AI.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COMPETITOR PRODUCT POSITIONING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691640"/>
            <a:ext cx="73152" cy="8686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73952" y="1691640"/>
            <a:ext cx="5230368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17282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50034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172821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ThinQ + Affectionate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1911096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  <a:latin typeface="Calibri"/>
              </a:defRPr>
            </a:pPr>
            <a:r>
              <a:t>• #1 US appliance brand (surveys)</a:t>
            </a:r>
            <a:br/>
            <a:r>
              <a:t>• InstaView T-OLED 36" panel, AI Fresh pre-cooling</a:t>
            </a:r>
            <a:br/>
            <a:r>
              <a:t>• Gourmet AI: 85+ dishes (highest count)</a:t>
            </a:r>
            <a:br/>
            <a:r>
              <a:t>• EXAONE 1.2B on-device LLM + Microsoft cloud AI</a:t>
            </a:r>
            <a:br/>
            <a:r>
              <a:t>• Inverter Linear Compressor: best energy efficiency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615184"/>
            <a:ext cx="73152" cy="8686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3952" y="2615184"/>
            <a:ext cx="5230368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2651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0015"/>
                </a:solidFill>
                <a:latin typeface="Calibri"/>
              </a:defRPr>
            </a:pPr>
            <a:r>
              <a:t>Bosch/BSH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26517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Cook AI + German Engineering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2834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  <a:latin typeface="Calibri"/>
              </a:defRPr>
            </a:pPr>
            <a:r>
              <a:t>• #1 most trusted brand (7 years running)</a:t>
            </a:r>
            <a:br/>
            <a:r>
              <a:t>• Cook AI: industry's most advanced agentic cooking</a:t>
            </a:r>
            <a:br/>
            <a:r>
              <a:t>• Lambda probe O2 sensor + PerfectBake humidity</a:t>
            </a:r>
            <a:br/>
            <a:r>
              <a:t>• Matter first-mover; open APIs</a:t>
            </a:r>
            <a:br/>
            <a:r>
              <a:t>• CrystalDry zeolite dishwashers (unique tech)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538728"/>
            <a:ext cx="73152" cy="86868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73952" y="3538728"/>
            <a:ext cx="5230368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5753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4B8D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57530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SmartHQ + 6-Brand Portfolio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75818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  <a:latin typeface="Calibri"/>
              </a:defRPr>
            </a:pPr>
            <a:r>
              <a:t>• Fastest share growth (+2 ppt, 2025)</a:t>
            </a:r>
            <a:br/>
            <a:r>
              <a:t>• Scan-to-List: built-in barcode scanner (4M+ products)</a:t>
            </a:r>
            <a:br/>
            <a:r>
              <a:t>• Flavorly AI: generative recipes via Google Vertex AI</a:t>
            </a:r>
            <a:br/>
            <a:r>
              <a:t>• CookCam AI + FridgeFocus camera</a:t>
            </a:r>
            <a:br/>
            <a:r>
              <a:t>• 6 brands: Hotpoint to Monogram ($400-$12K+)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462272"/>
            <a:ext cx="73152" cy="868680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73952" y="4462272"/>
            <a:ext cx="5230368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44988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9623"/>
                </a:solidFill>
                <a:latin typeface="Calibri"/>
              </a:defRPr>
            </a:pPr>
            <a:r>
              <a:t>Whirlpool/KA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44988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Yummly + KitchenAid Relaunch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468172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  <a:latin typeface="Calibri"/>
              </a:defRPr>
            </a:pPr>
            <a:r>
              <a:t>• 22% US share (#1 overall market)</a:t>
            </a:r>
            <a:br/>
            <a:r>
              <a:t>• KitchenAid Intelligent Cooking Camera (KBIS 2026)</a:t>
            </a:r>
            <a:br/>
            <a:r>
              <a:t>• Yummly: 27M+ users, largest recipe community</a:t>
            </a:r>
            <a:br/>
            <a:r>
              <a:t>• Doneness detection, no-preheat cooking</a:t>
            </a:r>
            <a:br/>
            <a:r>
              <a:t>• Largest product relaunch in 10+ years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385816"/>
            <a:ext cx="73152" cy="868680"/>
          </a:xfrm>
          <a:prstGeom prst="rect">
            <a:avLst/>
          </a:prstGeom>
          <a:solidFill>
            <a:srgbClr val="6E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73952" y="5385816"/>
            <a:ext cx="5230368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4223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1D24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542239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20-Year Engineering Standard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560527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  <a:latin typeface="Calibri"/>
              </a:defRPr>
            </a:pPr>
            <a:r>
              <a:t>• Smart Food ID: 50 dishes, continuous learning</a:t>
            </a:r>
            <a:br/>
            <a:r>
              <a:t>• M Sense Cookware: 3 temp sensors (world first)</a:t>
            </a:r>
            <a:br/>
            <a:r>
              <a:t>• AutoDos PowerDisk: 30% detergent reduction</a:t>
            </a:r>
            <a:br/>
            <a:r>
              <a:t>• AI Diagnostics: 80%+ self-resolution rate</a:t>
            </a:r>
            <a:br/>
            <a:r>
              <a:t>• All 60cm dishwashers rated A for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Product &amp; Feature Comparison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2011680" cy="2743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REFRIGERATION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463040" cy="21945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097280"/>
            <a:ext cx="1965960" cy="21945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115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097280"/>
            <a:ext cx="1965960" cy="219456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115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097280"/>
            <a:ext cx="1965960" cy="219456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115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097280"/>
            <a:ext cx="1965960" cy="219456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115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097280"/>
            <a:ext cx="1965960" cy="219456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115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16736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3350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Flagship Display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31673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1335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32" FHD Touch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131673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1335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T-OLED 36"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31673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1335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7" Swivel LCD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31673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1335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31673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1335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536192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5544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Internal Camera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153619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155448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Dual-lens + Gemini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153619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155448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Remote viewing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53619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155448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FridgeFocus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153619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155448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153619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155448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FoodView (4 cam)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755648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177393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Food Recognition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175564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177393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1000s (Gemini)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3320" y="175564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0" y="177393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Inference-based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175564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177393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Barcode (4M+)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175564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177393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175564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20" y="177393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Remote view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1975104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19933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Cooling Innovation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7360" y="197510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83080" y="199339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AI Hybrid (Peltier)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03320" y="197510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199339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Inverter Linear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197510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5000" y="199339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5240" y="197510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0" y="199339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197510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6920" y="199339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MasterCool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2194560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22128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Design/Custom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37360" y="219456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83080" y="221284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Bespoke 8-14 colors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219456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221284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MoodUP 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219456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15000" y="221284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Cafe hardware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219456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221284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Panel-ready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219456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46920" y="221284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414016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243230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Price (Flagship)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37360" y="241401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83080" y="243230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$4,699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03320" y="241401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0" y="243230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TBD (Signature)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241401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15000" y="243230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$4,899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35240" y="241401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243230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~$3,500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01200" y="241401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46920" y="243230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$5,000+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2514600"/>
            <a:ext cx="2011680" cy="2743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COOKING / OVENS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2834640"/>
            <a:ext cx="1463040" cy="21945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2852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37360" y="2834640"/>
            <a:ext cx="1965960" cy="21945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83080" y="285292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703320" y="2834640"/>
            <a:ext cx="1965960" cy="219456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749040" y="285292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2834640"/>
            <a:ext cx="1965960" cy="219456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15000" y="285292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35240" y="2834640"/>
            <a:ext cx="1965960" cy="219456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0" y="285292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01200" y="2834640"/>
            <a:ext cx="1965960" cy="219456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46920" y="285292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054096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307238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Oven Camera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37360" y="305409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783080" y="307238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Yes (500°F rated)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03320" y="305409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749040" y="307238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Yes (Gourmet AI)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0" y="305409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15000" y="307238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CookCam AI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35240" y="305409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680960" y="307238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Cook AI probe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01200" y="305409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46920" y="307238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Smart Food ID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3273552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32918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Dishes Recognized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37360" y="327355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783080" y="329184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703320" y="327355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749040" y="329184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85+ (highest)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0" y="327355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15000" y="329184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Growing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35240" y="327355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680960" y="329184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80 (agentic)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01200" y="327355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46920" y="329184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3493008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35112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Autonomous Level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37360" y="349300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783080" y="351129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Med (fridge→oven)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703320" y="349300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749040" y="351129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Med (auto-select)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669280" y="349300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15000" y="351129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Med (precision)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635240" y="349300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680960" y="351129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HIGH (multi-appl)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601200" y="349300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646920" y="351129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Med (cookware)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3712464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20040" y="37307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Unique Sensor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37360" y="371246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83080" y="373075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Pixel browning rate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703320" y="371246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749040" y="373075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Standard camera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280" y="371246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715000" y="373075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Wireless probe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35240" y="371246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80960" y="373075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Lambda O2 probe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601200" y="371246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46920" y="373075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M Sense (3 temp)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" y="3931920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20040" y="39502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Cooking Method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37360" y="393192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783080" y="395020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Vision + Gemini AI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703320" y="393192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749040" y="395020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Vision + LLM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669280" y="393192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715000" y="395020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Vision + Vertex AI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35240" y="393192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80960" y="395020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Probe + humidity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601200" y="393192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646920" y="395020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Cookware comms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4151376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20040" y="41696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Price (Range)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37360" y="415137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783080" y="416966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$1,400-$3,000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703320" y="415137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749040" y="416966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$2,000-$3,500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669280" y="415137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715000" y="416966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$1,500-$4,000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635240" y="415137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680960" y="416966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$2,000-$5,500+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601200" y="415137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646920" y="416966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$3,000-$6,000+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4251960"/>
            <a:ext cx="2011680" cy="2743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6576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/ SOFTWARE PLATFORMS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4572000"/>
            <a:ext cx="1463040" cy="21945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0040" y="45902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737360" y="4572000"/>
            <a:ext cx="1965960" cy="21945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783080" y="459028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703320" y="4572000"/>
            <a:ext cx="1965960" cy="219456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749040" y="459028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669280" y="4572000"/>
            <a:ext cx="1965960" cy="219456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715000" y="459028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635240" y="4572000"/>
            <a:ext cx="1965960" cy="219456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680960" y="459028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601200" y="4572000"/>
            <a:ext cx="1965960" cy="219456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646920" y="459028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Whirlpool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4791456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0040" y="48097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737360" y="479145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783080" y="480974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SmartThings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703320" y="479145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749040" y="480974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ThinQ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669280" y="479145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715000" y="480974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SmartHQ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635240" y="479145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80960" y="480974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Home Connect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601200" y="4791456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646920" y="480974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Whirlpool/KA App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74320" y="5010912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20040" y="502920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LLM / GenAI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737360" y="501091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783080" y="502920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703320" y="501091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749040" y="502920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EXAONE (on-device)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669280" y="501091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715000" y="502920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Google Vertex AI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635240" y="501091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680960" y="502920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Agentic (internal)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601200" y="5010912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646920" y="5029200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74320" y="5230368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20040" y="52486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Voice AI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737360" y="523036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783080" y="524865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Bixby + Alexa + Perplexity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3703320" y="523036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749040" y="524865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ThinQ Voice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669280" y="523036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715000" y="524865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Alexa + Google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35240" y="523036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680960" y="524865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Alexa+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601200" y="5230368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9646920" y="5248656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Alexa + Google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5449824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20040" y="546811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Recipe Engine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737360" y="544982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783080" y="546811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Samsung Food (160K+)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703320" y="544982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3749040" y="546811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ThinQ Recipes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669280" y="544982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715000" y="546811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Flavorly AI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635240" y="544982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680960" y="546811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Cook AI dynamic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601200" y="5449824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646920" y="5468112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Yummly (27M users)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74320" y="5669280"/>
            <a:ext cx="14630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20040" y="56875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Ecosystem Breadth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37360" y="566928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83080" y="5687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Phone+TV+Watch+Home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3703320" y="566928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3749040" y="5687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TV+Home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669280" y="566928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715000" y="5687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Appliances only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635240" y="566928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680960" y="5687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Appliances only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601200" y="5669280"/>
            <a:ext cx="1965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646920" y="5687568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Appliances only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74320" y="5888736"/>
            <a:ext cx="146304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20040" y="59070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Matter Support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737360" y="588873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783080" y="5907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1.5 (camera first)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3703320" y="588873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749040" y="5907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669280" y="588873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715000" y="5907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635240" y="588873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680960" y="5907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First-mover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9601200" y="5888736"/>
            <a:ext cx="1965960" cy="219456"/>
          </a:xfrm>
          <a:prstGeom prst="rect">
            <a:avLst/>
          </a:prstGeom>
          <a:solidFill>
            <a:srgbClr val="F8F9F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646920" y="5907024"/>
            <a:ext cx="1874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00000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274320" y="6080760"/>
            <a:ext cx="11612880" cy="59436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457200" y="610819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Samsung leads in ecosystem breadth and display integration, but Bosch Cook AI sets the autonomy benchmark. GE's barcode scanner is a unique hardware innovation Samsung lacks. LG's on-device EXAONE LLM addresses cloud dependency risk Samsung has not yet 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Technology Architecture &amp; AI Strategy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25E"/>
                </a:solidFill>
                <a:latin typeface="Calibri"/>
              </a:defRPr>
            </a:pPr>
            <a:r>
              <a:t>AI ARCHITECTURE: THREE COMPETING PHILOSOPHIES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3152" cy="12344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097280"/>
            <a:ext cx="5321808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521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28A0"/>
                </a:solidFill>
                <a:latin typeface="Calibri"/>
              </a:defRPr>
            </a:pPr>
            <a:r>
              <a:t>Samsung: Distributed Edge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• Modified Exynos SoC with dedicated NPU in each appliance</a:t>
            </a:r>
            <a:br/>
            <a:r>
              <a:t>• L1 (Local): Real-time object detection at &lt;50ms latency</a:t>
            </a:r>
            <a:br/>
            <a:r>
              <a:t>• L2 (Cloud): Google Gemini for complex reasoning</a:t>
            </a:r>
            <a:br/>
            <a:r>
              <a:t>• Advantage: Works offline, fastest response time</a:t>
            </a:r>
            <a:br/>
            <a:r>
              <a:t>• Risk: Higher BOM cost, hard to upgrade chipset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73152" cy="123444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2468880"/>
            <a:ext cx="5321808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50034"/>
                </a:solidFill>
                <a:latin typeface="Calibri"/>
              </a:defRPr>
            </a:pPr>
            <a:r>
              <a:t>LG: Centralized Hub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• ThinQ ON hub with DQ-X AI Chipset as central brain</a:t>
            </a:r>
            <a:br/>
            <a:r>
              <a:t>• EXAONE 1.2B-param on-device SLM for local inference</a:t>
            </a:r>
            <a:br/>
            <a:r>
              <a:t>• Dumb node, smart hub topology via Matter/Thread</a:t>
            </a:r>
            <a:br/>
            <a:r>
              <a:t>• Advantage: Lower appliance cost, easy hub upgrades</a:t>
            </a:r>
            <a:br/>
            <a:r>
              <a:t>• Risk: Single point of failure, 100-300ms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73152" cy="123444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" y="3840480"/>
            <a:ext cx="5321808" cy="1234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953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0015"/>
                </a:solidFill>
                <a:latin typeface="Calibri"/>
              </a:defRPr>
            </a:pPr>
            <a:r>
              <a:t>Bosch: Physics-First Sensor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• Lambda probe (automotive O2 sensor) for cooking precision</a:t>
            </a:r>
            <a:br/>
            <a:r>
              <a:t>• PerfectBake humidity sensor for moisture-curve baking</a:t>
            </a:r>
            <a:br/>
            <a:r>
              <a:t>• AI-assisted probe thermometry, not vision-based</a:t>
            </a:r>
            <a:br/>
            <a:r>
              <a:t>• Advantage: Superior cooking results, cloud-independent</a:t>
            </a:r>
            <a:br/>
            <a:r>
              <a:t>• Risk: Less "visible" AI, lower marketing appeal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57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25E"/>
                </a:solidFill>
                <a:latin typeface="Calibri"/>
              </a:defRPr>
            </a:pPr>
            <a:r>
              <a:t>HEAD-TO-HEAD: ARCHITECTURE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86400"/>
            <a:ext cx="1371600" cy="201168"/>
          </a:xfrm>
          <a:prstGeom prst="rect">
            <a:avLst/>
          </a:prstGeom>
          <a:solidFill>
            <a:srgbClr val="0A12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550468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5486400"/>
            <a:ext cx="1554480" cy="201168"/>
          </a:xfrm>
          <a:prstGeom prst="rect">
            <a:avLst/>
          </a:prstGeom>
          <a:solidFill>
            <a:srgbClr val="0A12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73936" y="5504688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Samsung (Edge NPU)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486400"/>
            <a:ext cx="1554480" cy="201168"/>
          </a:xfrm>
          <a:prstGeom prst="rect">
            <a:avLst/>
          </a:prstGeom>
          <a:solidFill>
            <a:srgbClr val="0A12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8416" y="5504688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LG (Central Hub)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86400"/>
            <a:ext cx="1371600" cy="201168"/>
          </a:xfrm>
          <a:prstGeom prst="rect">
            <a:avLst/>
          </a:prstGeom>
          <a:solidFill>
            <a:srgbClr val="0A12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550468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Bosch (Sensor)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87568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5705856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Vision Processing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687568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5705856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Superior (local)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687568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6" y="5705856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Cloud-dependent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5687568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5705856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N/A (probe-based)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888736"/>
            <a:ext cx="1371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5907024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5888736"/>
            <a:ext cx="155448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5907024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&lt;50ms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888736"/>
            <a:ext cx="155448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5907024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100-300ms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5888736"/>
            <a:ext cx="1371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5907024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Real-time (wired)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89904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6108192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Cost Structure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6089904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73936" y="6108192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High CapEx/unit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6089904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28416" y="6108192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Low CapEx, High OpEx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6089904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6108192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Low (no NPU)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291072"/>
            <a:ext cx="1371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630936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Upgradeability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6291072"/>
            <a:ext cx="155448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73936" y="630936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Hard (fixed chip)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6291072"/>
            <a:ext cx="155448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28416" y="630936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Easy (swap hub)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6291072"/>
            <a:ext cx="13716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82896" y="630936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Firmware OTA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492240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" y="6510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Cloud Dependency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37360" y="6492240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73936" y="6510528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Medium (Gemini)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6492240"/>
            <a:ext cx="15544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6510528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Medium (Microsoft)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6492240"/>
            <a:ext cx="13716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82896" y="6510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Low (local-first)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25E"/>
                </a:solidFill>
                <a:latin typeface="Calibri"/>
              </a:defRPr>
            </a:pPr>
            <a:r>
              <a:t>COMPOSITE KPI SCORECARD (1-5 SCALE)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1051560"/>
            <a:ext cx="822960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45352" y="1069848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1051560"/>
            <a:ext cx="365760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1069848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Wt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1051560"/>
            <a:ext cx="731520" cy="237744"/>
          </a:xfrm>
          <a:prstGeom prst="rect">
            <a:avLst/>
          </a:prstGeom>
          <a:solidFill>
            <a:srgbClr val="1428A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34072" y="106984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1051560"/>
            <a:ext cx="548640" cy="237744"/>
          </a:xfrm>
          <a:prstGeom prst="rect">
            <a:avLst/>
          </a:prstGeom>
          <a:solidFill>
            <a:srgbClr val="A5003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65592" y="106984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1051560"/>
            <a:ext cx="548640" cy="237744"/>
          </a:xfrm>
          <a:prstGeom prst="rect">
            <a:avLst/>
          </a:prstGeom>
          <a:solidFill>
            <a:srgbClr val="004B8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14232" y="106984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1051560"/>
            <a:ext cx="594360" cy="237744"/>
          </a:xfrm>
          <a:prstGeom prst="rect">
            <a:avLst/>
          </a:prstGeom>
          <a:solidFill>
            <a:srgbClr val="E2001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62872" y="1069848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29800" y="1051560"/>
            <a:ext cx="822960" cy="237744"/>
          </a:xfrm>
          <a:prstGeom prst="rect">
            <a:avLst/>
          </a:prstGeom>
          <a:solidFill>
            <a:srgbClr val="C8962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57232" y="1069848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Whirlpool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52760" y="1051560"/>
            <a:ext cx="548640" cy="237744"/>
          </a:xfrm>
          <a:prstGeom prst="rect">
            <a:avLst/>
          </a:prstGeom>
          <a:solidFill>
            <a:srgbClr val="6E1D2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680192" y="106984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1289304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13075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1289304"/>
            <a:ext cx="365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68312" y="1307592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06640" y="1289304"/>
            <a:ext cx="7315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34072" y="1307592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4.75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128930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65592" y="130759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86800" y="128930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14232" y="130759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1289304"/>
            <a:ext cx="5943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62872" y="1307592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3.45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829800" y="1289304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57232" y="13075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2.80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52760" y="1289304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680192" y="130759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2.80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17920" y="1527048"/>
            <a:ext cx="8229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45352" y="1545336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40880" y="1527048"/>
            <a:ext cx="3657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068312" y="1545336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06640" y="1527048"/>
            <a:ext cx="73152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34072" y="1545336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5.00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38160" y="1527048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65592" y="1545336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86800" y="1527048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14232" y="1545336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2.40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235440" y="1527048"/>
            <a:ext cx="5943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62872" y="1545336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829800" y="1527048"/>
            <a:ext cx="8229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57232" y="1545336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652760" y="1527048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680192" y="1545336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0" y="1764792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45352" y="1783080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040880" y="1764792"/>
            <a:ext cx="365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68312" y="1783080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06640" y="1764792"/>
            <a:ext cx="7315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34072" y="178308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3.70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38160" y="176479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65592" y="178308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3.85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686800" y="176479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714232" y="178308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3.30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235440" y="1764792"/>
            <a:ext cx="5943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62872" y="1783080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3.70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829800" y="1764792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57232" y="1783080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52760" y="176479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80192" y="1783080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3.05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17920" y="2002536"/>
            <a:ext cx="8229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45352" y="202082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40880" y="2002536"/>
            <a:ext cx="3657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68312" y="2020824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406640" y="2002536"/>
            <a:ext cx="73152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434072" y="202082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5.00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138160" y="2002536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65592" y="202082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4.15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86800" y="2002536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714232" y="202082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2.60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235440" y="2002536"/>
            <a:ext cx="5943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262872" y="2020824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3.45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829800" y="2002536"/>
            <a:ext cx="8229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857232" y="2020824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2.50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52760" y="2002536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680192" y="2020824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1.90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217920" y="2240280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245352" y="2258568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040880" y="2240280"/>
            <a:ext cx="365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068312" y="2258568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06640" y="2240280"/>
            <a:ext cx="7315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34072" y="22585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4.75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138160" y="2240280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6559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4.00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686800" y="2240280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71423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3.55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235440" y="2240280"/>
            <a:ext cx="5943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262872" y="2258568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3.75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829800" y="2240280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857232" y="2258568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2.50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652760" y="2240280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680192" y="2258568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2.80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17920" y="2478024"/>
            <a:ext cx="822960" cy="237744"/>
          </a:xfrm>
          <a:prstGeom prst="rect">
            <a:avLst/>
          </a:prstGeom>
          <a:solidFill>
            <a:srgbClr val="E0E0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249631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40880" y="2478024"/>
            <a:ext cx="365760" cy="237744"/>
          </a:xfrm>
          <a:prstGeom prst="rect">
            <a:avLst/>
          </a:prstGeom>
          <a:solidFill>
            <a:srgbClr val="E0E0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068312" y="2496312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406640" y="2478024"/>
            <a:ext cx="73152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434072" y="2496312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A125E"/>
                </a:solidFill>
                <a:latin typeface="Calibri"/>
              </a:defRPr>
            </a:pPr>
            <a:r>
              <a:t>4.55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138160" y="2478024"/>
            <a:ext cx="54864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65592" y="249631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3.96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686800" y="2478024"/>
            <a:ext cx="54864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714232" y="249631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3.05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235440" y="2478024"/>
            <a:ext cx="59436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262872" y="2496312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3.48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829800" y="2478024"/>
            <a:ext cx="82296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857232" y="249631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2.88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52760" y="2478024"/>
            <a:ext cx="548640" cy="237744"/>
          </a:xfrm>
          <a:prstGeom prst="rect">
            <a:avLst/>
          </a:prstGeom>
          <a:solidFill>
            <a:srgbClr val="E8EB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680192" y="2496312"/>
            <a:ext cx="493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2.57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17920" y="2926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SMART HOME PROTOCOL SUPPORT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17920" y="3154680"/>
            <a:ext cx="914400" cy="219456"/>
          </a:xfrm>
          <a:prstGeom prst="rect">
            <a:avLst/>
          </a:prstGeom>
          <a:solidFill>
            <a:srgbClr val="333333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245352" y="317296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Protocol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32320" y="3154680"/>
            <a:ext cx="1005840" cy="219456"/>
          </a:xfrm>
          <a:prstGeom prst="rect">
            <a:avLst/>
          </a:prstGeom>
          <a:solidFill>
            <a:srgbClr val="1428A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159752" y="3172968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138160" y="3154680"/>
            <a:ext cx="731520" cy="219456"/>
          </a:xfrm>
          <a:prstGeom prst="rect">
            <a:avLst/>
          </a:prstGeom>
          <a:solidFill>
            <a:srgbClr val="A5003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165592" y="317296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869680" y="3154680"/>
            <a:ext cx="914400" cy="219456"/>
          </a:xfrm>
          <a:prstGeom prst="rect">
            <a:avLst/>
          </a:prstGeom>
          <a:solidFill>
            <a:srgbClr val="E2001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897112" y="317296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784080" y="3154680"/>
            <a:ext cx="822960" cy="219456"/>
          </a:xfrm>
          <a:prstGeom prst="rect">
            <a:avLst/>
          </a:prstGeom>
          <a:solidFill>
            <a:srgbClr val="004B8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811512" y="317296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GE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607040" y="3154680"/>
            <a:ext cx="731520" cy="219456"/>
          </a:xfrm>
          <a:prstGeom prst="rect">
            <a:avLst/>
          </a:prstGeom>
          <a:solidFill>
            <a:srgbClr val="6E1D2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634472" y="317296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217920" y="337413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245352" y="339242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Matter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132320" y="337413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159752" y="3392424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1.5 (camera)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138160" y="3374136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165592" y="3392424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869680" y="3374136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897112" y="339242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First-mover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784080" y="3374136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811512" y="339242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607040" y="3374136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634472" y="3392424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217920" y="3593592"/>
            <a:ext cx="91440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245352" y="3611880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Thread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132320" y="3593592"/>
            <a:ext cx="100584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159752" y="3611880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138160" y="3593592"/>
            <a:ext cx="73152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165592" y="3611880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869680" y="3593592"/>
            <a:ext cx="91440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897112" y="3611880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784080" y="3593592"/>
            <a:ext cx="82296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811512" y="3611880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607040" y="3593592"/>
            <a:ext cx="73152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634472" y="3611880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217920" y="381304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245352" y="383133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Voice Native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132320" y="3813048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159752" y="3831336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Bixby+Alexa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138160" y="3813048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165592" y="3831336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ThinQ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869680" y="3813048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897112" y="383133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Alexa+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784080" y="3813048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9811512" y="383133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SmartHQ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0607040" y="3813048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0634472" y="3831336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App only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217920" y="4032504"/>
            <a:ext cx="91440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245352" y="405079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LLM Partner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132320" y="4032504"/>
            <a:ext cx="100584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159752" y="4050792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138160" y="4032504"/>
            <a:ext cx="73152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165592" y="4050792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869680" y="4032504"/>
            <a:ext cx="91440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897112" y="405079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784080" y="4032504"/>
            <a:ext cx="82296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811512" y="405079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Google Cloud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07040" y="4032504"/>
            <a:ext cx="731520" cy="219456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634472" y="4050792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217920" y="425196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245352" y="427024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3333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132320" y="425196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159752" y="4270248"/>
            <a:ext cx="950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Knox Matrix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138160" y="4251960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165592" y="427024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LG Shield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869680" y="4251960"/>
            <a:ext cx="9144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897112" y="427024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GDPR std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784080" y="425196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811512" y="427024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Google Cloud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0607040" y="4251960"/>
            <a:ext cx="7315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0634472" y="427024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333333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217920" y="4572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CES 2026 KITCHEN AI HIGHLIGHTS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217920" y="4846320"/>
            <a:ext cx="64008" cy="338328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355080" y="4855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223760" y="485546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Calibri"/>
              </a:defRPr>
            </a:pPr>
            <a:r>
              <a:t>CES Innovation Award. First appliance with Google Gemini.</a:t>
            </a:r>
            <a:br/>
            <a:r>
              <a:t>Auto Open Door voice-controlled mechanism.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6217920" y="5230368"/>
            <a:ext cx="64008" cy="338328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355080" y="5239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50034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223760" y="52395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Calibri"/>
              </a:defRPr>
            </a:pPr>
            <a:r>
              <a:t>"Affectionate Intelligence" theme. LG SIGNATURE with</a:t>
            </a:r>
            <a:br/>
            <a:r>
              <a:t>built-in LLM. ThinQ Pro for B2B.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217920" y="5614416"/>
            <a:ext cx="64008" cy="338328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355080" y="56235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20015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223760" y="5623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Calibri"/>
              </a:defRPr>
            </a:pPr>
            <a:r>
              <a:t>Reviewed CES Award. Cook AI agentic cooking.</a:t>
            </a:r>
            <a:br/>
            <a:r>
              <a:t>Alexa+ espresso machine.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217920" y="5998464"/>
            <a:ext cx="64008" cy="338328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355080" y="60076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4B8D"/>
                </a:solidFill>
                <a:latin typeface="Calibri"/>
              </a:defRPr>
            </a:pPr>
            <a:r>
              <a:t>GE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223760" y="600760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Calibri"/>
              </a:defRPr>
            </a:pPr>
            <a:r>
              <a:t>Smart Company of Year (9x). Kitchen Assistant</a:t>
            </a:r>
            <a:br/>
            <a:r>
              <a:t>with barcode scanner. Instacart integration.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217920" y="6382512"/>
            <a:ext cx="64008" cy="3383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355080" y="63916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Industry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223760" y="639165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Calibri"/>
              </a:defRPr>
            </a:pPr>
            <a:r>
              <a:t>Shift: Smart → Autonomous. 239 smart kitchen</a:t>
            </a:r>
            <a:br/>
            <a:r>
              <a:t>startups globally. LLMs standard in premium.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Competitive Gaps &amp; Strategic Priorities (2026-2030)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KEY COMPETITIVE GAPS FOR SAMSUNG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33856"/>
            <a:ext cx="68580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3385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155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Autonomous Cooking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338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20015"/>
                </a:solidFill>
                <a:latin typeface="Calibri"/>
              </a:defRPr>
            </a:pPr>
            <a:r>
              <a:t>vs Bosch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1673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Bosch Cook AI is industry's most advanced agentic system.</a:t>
            </a:r>
            <a:br/>
            <a:r>
              <a:t>Orchestrates multiple appliances, adapts to ingredients,</a:t>
            </a:r>
            <a:br/>
            <a:r>
              <a:t>uses lambda O2 sensor. Samsung is vision-focused, not agentic.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11096"/>
            <a:ext cx="68580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1109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928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Brand Trust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1109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20015"/>
                </a:solidFill>
                <a:latin typeface="Calibri"/>
              </a:defRPr>
            </a:pPr>
            <a:r>
              <a:t>vs Bosch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9397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 ranks 4th in kitchen trust. Bosch #1 for 7 years.</a:t>
            </a:r>
            <a:br/>
            <a:r>
              <a:t>Connected appliances: 87 problems/100 units vs 63 non-connected.</a:t>
            </a:r>
            <a:br/>
            <a:r>
              <a:t>Reliability perception hasn't caught up with innovation.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88336"/>
            <a:ext cx="68580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8833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GE Market Momentum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883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4B8D"/>
                </a:solidFill>
                <a:latin typeface="Calibri"/>
              </a:defRPr>
            </a:pPr>
            <a:r>
              <a:t>vs GE/Haier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7121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Fastest share growth (+2 ppt, 2025). 9x Smart Company of Year.</a:t>
            </a:r>
            <a:br/>
            <a:r>
              <a:t>Scan-to-List barcode scanner is unique innovation.</a:t>
            </a:r>
            <a:br/>
            <a:r>
              <a:t>Instacart integration = practical kitchen commerce.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465576"/>
            <a:ext cx="68580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6557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MED-HIGH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447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On-Device AI / Cloud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6557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50034"/>
                </a:solidFill>
                <a:latin typeface="Calibri"/>
              </a:defRPr>
            </a:pPr>
            <a:r>
              <a:t>vs LG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4845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Samsung's Gemini dependency creates 15-20 year lifespan risk.</a:t>
            </a:r>
            <a:br/>
            <a:r>
              <a:t>LG's EXAONE runs locally. Bosch is sensor-local.</a:t>
            </a:r>
            <a:br/>
            <a:r>
              <a:t>47% of smart kitchen users worry about data breaches.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42816"/>
            <a:ext cx="68580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4281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MED-HIGH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24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KitchenAid Smart Relaunch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42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9623"/>
                </a:solidFill>
                <a:latin typeface="Calibri"/>
              </a:defRPr>
            </a:pPr>
            <a:r>
              <a:t>vs Whirlpool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256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Largest product relaunch in 10+ years at KBIS 2026.</a:t>
            </a:r>
            <a:br/>
            <a:r>
              <a:t>Intelligent Cooking Camera directly competes with Samsung.</a:t>
            </a:r>
            <a:br/>
            <a:r>
              <a:t>Yummly's 27M users = massive recipe data moat.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020056"/>
            <a:ext cx="68580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02005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017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Luxury Segment (Dacor)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200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1D24"/>
                </a:solidFill>
                <a:latin typeface="Calibri"/>
              </a:defRPr>
            </a:pPr>
            <a:r>
              <a:t>vs Multiple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0293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Dacor hasn't matched Thermador, Sub-Zero/Wolf, or Miele prestige.</a:t>
            </a:r>
            <a:br/>
            <a:r>
              <a:t>Sub-Zero dual refrigeration is technically superior.</a:t>
            </a:r>
            <a:br/>
            <a:r>
              <a:t>Miele's 20-year engineering standard is unmatched.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797296"/>
            <a:ext cx="68580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79729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790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Chinese Brand Disruption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79729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vs Midea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98017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Midea overseas revenue +17.7% YoY. New US leadership team.</a:t>
            </a:r>
            <a:br/>
            <a:r>
              <a:t>Midea-Hisense pact pools AI + manufacturing.</a:t>
            </a:r>
            <a:br/>
            <a:r>
              <a:t>Aggressive pricing could pressure Samsung's mid-range.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25E"/>
                </a:solidFill>
                <a:latin typeface="Calibri"/>
              </a:defRPr>
            </a:pPr>
            <a:r>
              <a:t>7 STRATEGIC PRIORITIES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1097280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1247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10972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Close Reliability/Trust Gap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1106424"/>
            <a:ext cx="73152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11064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1307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Launch Samsung Reliability Guarantee. Target 4.5+ app rating.</a:t>
            </a:r>
            <a:br/>
            <a:r>
              <a:t>Address 87/100 connected problem rate. Publish reliability data.</a:t>
            </a:r>
          </a:p>
        </p:txBody>
      </p:sp>
      <p:sp>
        <p:nvSpPr>
          <p:cNvPr id="47" name="Oval 46"/>
          <p:cNvSpPr/>
          <p:nvPr/>
        </p:nvSpPr>
        <p:spPr>
          <a:xfrm>
            <a:off x="6217920" y="1847088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1874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1847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Advance Autonomous Cooking 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1856232"/>
            <a:ext cx="73152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18562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Develop agentic cooking AI matching Bosch Cook AI.</a:t>
            </a:r>
            <a:br/>
            <a:r>
              <a:t>Leverage Gemini multimodal for ingredient-adaptive cooking.</a:t>
            </a:r>
            <a:br/>
            <a:r>
              <a:t>Fridge→Recipe→Oven fully automated orchestration.</a:t>
            </a:r>
          </a:p>
        </p:txBody>
      </p:sp>
      <p:sp>
        <p:nvSpPr>
          <p:cNvPr id="53" name="Oval 52"/>
          <p:cNvSpPr/>
          <p:nvPr/>
        </p:nvSpPr>
        <p:spPr>
          <a:xfrm>
            <a:off x="6217920" y="2596896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26243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25968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Defend Smart Kitchen Share vs 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0" y="2606040"/>
            <a:ext cx="73152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2606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2807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Match barcode scanner hardware innovation.</a:t>
            </a:r>
            <a:br/>
            <a:r>
              <a:t>Deepen grocery delivery integration from Family Hub.</a:t>
            </a:r>
            <a:br/>
            <a:r>
              <a:t>Leverage phone+TV+watch ecosystem GE can't match.</a:t>
            </a:r>
          </a:p>
        </p:txBody>
      </p:sp>
      <p:sp>
        <p:nvSpPr>
          <p:cNvPr id="59" name="Oval 58"/>
          <p:cNvSpPr/>
          <p:nvPr/>
        </p:nvSpPr>
        <p:spPr>
          <a:xfrm>
            <a:off x="6217920" y="3346704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3374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33467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Strengthen Matter/Interop Strategy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01200" y="3355848"/>
            <a:ext cx="73152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33558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MED-HIGH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3557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Position SmartThings as best Matter hub/controller.</a:t>
            </a:r>
            <a:br/>
            <a:r>
              <a:t>Accelerate Matter across all price tiers (not just premium).</a:t>
            </a:r>
            <a:br/>
            <a:r>
              <a:t>Ensure seamless Google Home + Apple HomeKit via Matter.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0" y="4096512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41239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37960" y="40965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Address Cloud Dependency Risk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4105656"/>
            <a:ext cx="73152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0" y="41056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43068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Develop hybrid AI: core functions on-device, cloud enhances.</a:t>
            </a:r>
            <a:br/>
            <a:r>
              <a:t>Establish long-term Gemini SLA for appliance support.</a:t>
            </a:r>
            <a:br/>
            <a:r>
              <a:t>Plan graceful degradation if cloud services change.</a:t>
            </a:r>
          </a:p>
        </p:txBody>
      </p:sp>
      <p:sp>
        <p:nvSpPr>
          <p:cNvPr id="71" name="Oval 70"/>
          <p:cNvSpPr/>
          <p:nvPr/>
        </p:nvSpPr>
        <p:spPr>
          <a:xfrm>
            <a:off x="6217920" y="4846320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48737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4846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Elevate Dacor in Luxury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01200" y="4855464"/>
            <a:ext cx="73152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48554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50566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Infuse Samsung AI + SmartThings into Dacor products.</a:t>
            </a:r>
            <a:br/>
            <a:r>
              <a:t>Create 'Dacor x Samsung AI' luxury smart suite.</a:t>
            </a:r>
            <a:br/>
            <a:r>
              <a:t>Differentiate as AI luxury vs Sub-Zero/Wolf's tech-avoidance.</a:t>
            </a:r>
          </a:p>
        </p:txBody>
      </p:sp>
      <p:sp>
        <p:nvSpPr>
          <p:cNvPr id="77" name="Oval 76"/>
          <p:cNvSpPr/>
          <p:nvPr/>
        </p:nvSpPr>
        <p:spPr>
          <a:xfrm>
            <a:off x="6217920" y="5596128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5623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60" y="5596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Counter Chinese Brand Entry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01200" y="5605272"/>
            <a:ext cx="73152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0" y="56052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5806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Protect mid-range with compelling smart features.</a:t>
            </a:r>
            <a:br/>
            <a:r>
              <a:t>Accelerate Bespoke entry-tier expansion.</a:t>
            </a:r>
            <a:br/>
            <a:r>
              <a:t>Leverage ecosystem depth as competitive moat vs Midea.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6492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2026-2030 OUTLOOK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0" y="64922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2026: Smart kitchen tipping point • 2027: Autonomous cooking goes commercial + Samsung proprietary GPU AP • 2028: 25% smart penetration, edge AI 80%+ inference • 2029: 30.8% global smart homes • 2030: $40-60B smart kitchen market, refrigerant-free Peltier cooling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Appendix: Data 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E8"/>
                </a:solidFill>
                <a:latin typeface="Calibri"/>
              </a:defRPr>
            </a:pPr>
            <a:r>
              <a:t>100+ primary sources across market research firms, company newsrooms, trade publications, and technology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286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MARKET DATA &amp;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3327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$311B global kitchen market, CAGR 4.2-4.8%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52144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Mordor Intelligence, Coherent Market Insights, IMARC Group (2025-2026)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930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Smart kitchen $23.7B (2025) → $40-60B (2030)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0817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Research and Markets, Statista, Polaris Market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4533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US market ~$77-80B; smart kitchen $6.9B → $17.64B by 2033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GlobeNewsWire US Smart Kitchen Forecast 2025-2033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0136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Smart household penetration 13% → 30.8% by 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Statista Digital Market Insights, American Home Shield Survey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03120"/>
            <a:ext cx="5669280" cy="228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214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MARKET SHARE &amp; BRAND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35915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Samsung 18% US / 21.7% smart kitchen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78024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OpenBrand US Major Appliance Market Share Q1-Q2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151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Whirlpool 22%, LG 17%, GE 14%, Bosch 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3405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OpenBrand Q2 2025, Fred's Appliance Academy Industry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87121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GE +2 ppt share gain (fastest growth, 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008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OpenBrand Q2 2025 Market Share Trends &amp; Rankings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2724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Bosch #1 most trusted kitchen brand (7 years)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Lifestory Research 2025 Most Trusted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383280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87 problems/100 connected units; satisfaction -11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J.D. Power 2025 U.S. Appliance Satisfaction Study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85032"/>
            <a:ext cx="5669280" cy="2286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703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SAMSUNG PRODUCT &amp; AI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4106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Bespoke AI Family Hub+, Gemini, AI Hybrid Cooling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5993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Samsung Global Newsroom (news.samsung.com), CES 2026 press releases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19709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AI Vision Inside, 80 dish recognition, SmartThings 425M+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1596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Samsung Bespoke AI Kitchen Appliances press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45312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Samsung Food 160K+ recipes, Matter 1.5 camera-first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Samsung CES 2026 announcements, SmartThings Blog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09160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Knox Matrix, Mach-1 AI Chip, 9,304 US patents (2024)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28032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Samsung SEC filings, GreyB Patent Analytics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777240"/>
            <a:ext cx="5669280" cy="228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COMPETITOR PRODUCT &amp; AI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03327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LG: Gourmet AI 85+ dishes, EXAONE 1.2B LLM, ThinQ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152144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LG Newsroom CES 2026, LG SIGNATURE press releases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28930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Bosch: Cook AI agentic system, lambda probe, CrystalDry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0817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BSH CES 2026 (BusinessWire), Reviewed CES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154533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GE: Kitchen Assistant, barcode scanner 4M+, Flavorly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66420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GE Appliances Press Room, Google Cloud AI partnership release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180136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Whirlpool: KitchenAid Camera AI, Yummly 27M+, KBIS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92024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Whirlpool Corp KBIS 2026 (PRNewswire), KitchenAid press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057400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Miele: Smart Food ID, M Sense cookware, 20-year standard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176272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Miele SBID Kitchen Trends 2026, mieleusa.com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359152"/>
            <a:ext cx="5669280" cy="228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377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TECHNOLOGY &amp;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26151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Edge NPU vs Central Hub vs Sensor-first architectures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73405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Gemini Market Intelligence Report (custom research, 2026)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287121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Matter protocol versions 1.2-1.5, 750+ certified products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299008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Connectivity Standards Alliance (CSA), BSH/Samsung press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12724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AI patent growth 800%+ since 2017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24612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GreyB Patent Analytics, Samsung/LG/BSH patent filings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3383280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Cloud dependency risk, 47% data breach concern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502152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American Home Shield Smart Home Survey, industry analysis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685032"/>
            <a:ext cx="566928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703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CES 2026 &amp; INDUSTRY EVENTS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394106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CES 2026 Innovation Awards, product announcements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059936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CES official, Reviewed, Tom's Guide, Engadget, The Kitchn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4197096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KBIS 2026 Best of Show, KitchenAid/Whirlpool launches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315968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KBIS 2026 official, PRNewswire KBIS coverage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4453128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GE 9x Smart Appliance Company of Year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572000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GE Appliances Press Room (2026 award announcement)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4709160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33333"/>
                </a:solidFill>
                <a:latin typeface="Calibri"/>
              </a:defRPr>
            </a:pPr>
            <a:r>
              <a:t>• 239 smart kitchen startups, 96 in US, 35 Series A+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28032"/>
            <a:ext cx="5394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  <a:latin typeface="Calibri"/>
              </a:defRPr>
            </a:pPr>
            <a:r>
              <a:t>Source: Tracxn Smart Kitchen Appliances Report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Report compiled March 2026 based on publicly available information. All market figures are directional estimates. KPI scoring uses 1-5 scale based on public data. Full source list (60+ URLs) available in companion research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