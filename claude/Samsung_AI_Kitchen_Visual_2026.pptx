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16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114800"/>
            <a:ext cx="4114800" cy="4114800"/>
          </a:xfrm>
          <a:prstGeom prst="ellipse">
            <a:avLst/>
          </a:prstGeom>
          <a:solidFill>
            <a:srgbClr val="122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45920"/>
            <a:ext cx="731520" cy="54864"/>
          </a:xfrm>
          <a:prstGeom prst="rect">
            <a:avLst/>
          </a:prstGeom>
          <a:solidFill>
            <a:srgbClr val="6B8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AI Kitchen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6B8CF2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AAADD"/>
                </a:solidFill>
                <a:latin typeface="Calibri"/>
              </a:defRPr>
            </a:pPr>
            <a:r>
              <a:t>Samsung vs LG  ·  Bosch  ·  GE/Haier  ·  Whirlpool  ·  Miele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343400"/>
            <a:ext cx="4114800" cy="18288"/>
          </a:xfrm>
          <a:prstGeom prst="rect">
            <a:avLst/>
          </a:prstGeom>
          <a:solidFill>
            <a:srgbClr val="3A5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$17.6B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257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ADD"/>
                </a:solidFill>
                <a:latin typeface="Calibri"/>
              </a:defRPr>
            </a:pPr>
            <a:r>
              <a:t>US Smart Kitchen</a:t>
            </a:r>
            <a:br/>
            <a:r>
              <a:t>Market by 2033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21.7%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257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ADD"/>
                </a:solidFill>
                <a:latin typeface="Calibri"/>
              </a:defRPr>
            </a:pPr>
            <a:r>
              <a:t>Samsung Market</a:t>
            </a:r>
            <a:br/>
            <a:r>
              <a:t>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257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ADD"/>
                </a:solidFill>
                <a:latin typeface="Calibri"/>
              </a:defRPr>
            </a:pPr>
            <a:r>
              <a:t>Major Brands</a:t>
            </a:r>
            <a:br/>
            <a:r>
              <a:t>Competing in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A7ABB"/>
                </a:solidFill>
                <a:latin typeface="Calibri"/>
              </a:defRPr>
            </a:pPr>
            <a:r>
              <a:t>March 2026  |  Product Research Deep Dive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Who Leads in Each AI Category?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51560"/>
            <a:ext cx="2743200" cy="1554480"/>
          </a:xfrm>
          <a:prstGeom prst="roundRect">
            <a:avLst/>
          </a:prstGeom>
          <a:solidFill>
            <a:srgbClr val="E3EAFA"/>
          </a:solidFill>
          <a:ln w="1905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21212"/>
                </a:solidFill>
                <a:latin typeface="Calibri"/>
              </a:defRPr>
            </a:pPr>
            <a:r>
              <a:t>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61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Fridge Vision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2468880" cy="32004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184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LEADER: SAMSUNG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2468880" cy="365760"/>
          </a:xfrm>
          <a:prstGeom prst="roundRect">
            <a:avLst/>
          </a:prstGeom>
          <a:solidFill>
            <a:srgbClr val="E2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8A4E"/>
                </a:solidFill>
                <a:latin typeface="Calibri"/>
              </a:rPr>
              <a:t>✓  Samsung Leads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051560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1143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21212"/>
                </a:solidFill>
                <a:latin typeface="Calibri"/>
              </a:defRPr>
            </a:pPr>
            <a:r>
              <a:t>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1161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Oven Cooking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1600200"/>
            <a:ext cx="2468880" cy="32004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16184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LEADER: LG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2057400"/>
            <a:ext cx="2468880" cy="36576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2103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87878"/>
                </a:solidFill>
                <a:latin typeface="Calibri"/>
              </a:rPr>
              <a:t>Samsung: </a:t>
            </a:r>
            <a:r>
              <a:rPr sz="1100" b="1">
                <a:solidFill>
                  <a:srgbClr val="D42B2B"/>
                </a:solidFill>
                <a:latin typeface="Calibri"/>
              </a:rPr>
              <a:t>3rd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51560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1143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21212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1161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Autonomous Cooking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2784" y="1600200"/>
            <a:ext cx="2468880" cy="320040"/>
          </a:xfrm>
          <a:prstGeom prst="round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16184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LEADER: BOSCH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4" y="2057400"/>
            <a:ext cx="2468880" cy="36576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2103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87878"/>
                </a:solidFill>
                <a:latin typeface="Calibri"/>
              </a:rPr>
              <a:t>Samsung: </a:t>
            </a:r>
            <a:r>
              <a:rPr sz="1100" b="1">
                <a:solidFill>
                  <a:srgbClr val="D42B2B"/>
                </a:solidFill>
                <a:latin typeface="Calibri"/>
              </a:rPr>
              <a:t>4th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3416" y="1051560"/>
            <a:ext cx="2743200" cy="1554480"/>
          </a:xfrm>
          <a:prstGeom prst="roundRect">
            <a:avLst/>
          </a:prstGeom>
          <a:solidFill>
            <a:srgbClr val="E3EAFA"/>
          </a:solidFill>
          <a:ln w="1905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0576" y="1143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21212"/>
                </a:solidFill>
                <a:latin typeface="Calibri"/>
              </a:defRPr>
            </a:pPr>
            <a:r>
              <a:t>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1161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Voice &amp; Conv. 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0576" y="1600200"/>
            <a:ext cx="2468880" cy="32004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16184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LEADER: SAMSUNG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0576" y="2057400"/>
            <a:ext cx="2468880" cy="365760"/>
          </a:xfrm>
          <a:prstGeom prst="roundRect">
            <a:avLst/>
          </a:prstGeom>
          <a:solidFill>
            <a:srgbClr val="E2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0576" y="2103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8A4E"/>
                </a:solidFill>
                <a:latin typeface="Calibri"/>
              </a:rPr>
              <a:t>✓  Samsung Leads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2770632"/>
            <a:ext cx="2743200" cy="1554480"/>
          </a:xfrm>
          <a:prstGeom prst="roundRect">
            <a:avLst/>
          </a:prstGeom>
          <a:solidFill>
            <a:srgbClr val="E3EAFA"/>
          </a:solidFill>
          <a:ln w="1905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862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21212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Energy Optimization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319272"/>
            <a:ext cx="2468880" cy="32004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337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LEADER: SAMSUNG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776472"/>
            <a:ext cx="2468880" cy="365760"/>
          </a:xfrm>
          <a:prstGeom prst="roundRect">
            <a:avLst/>
          </a:prstGeom>
          <a:solidFill>
            <a:srgbClr val="E2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8221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8A4E"/>
                </a:solidFill>
                <a:latin typeface="Calibri"/>
              </a:rPr>
              <a:t>✓  Samsung Leads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27832" y="2770632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64992" y="2862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21212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0752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Recipe AI Platform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64992" y="3319272"/>
            <a:ext cx="2468880" cy="320040"/>
          </a:xfrm>
          <a:prstGeom prst="round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64992" y="3337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LEADER: GE/HAIER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64992" y="3776472"/>
            <a:ext cx="2468880" cy="36576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64992" y="38221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87878"/>
                </a:solidFill>
                <a:latin typeface="Calibri"/>
              </a:rPr>
              <a:t>Samsung: </a:t>
            </a:r>
            <a:r>
              <a:rPr sz="1100" b="1">
                <a:solidFill>
                  <a:srgbClr val="E68A00"/>
                </a:solidFill>
                <a:latin typeface="Calibri"/>
              </a:rPr>
              <a:t>2nd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35624" y="2770632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72784" y="2862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21212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38544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Predictive Maint.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72784" y="3319272"/>
            <a:ext cx="2468880" cy="320040"/>
          </a:xfrm>
          <a:prstGeom prst="roundRect">
            <a:avLst/>
          </a:prstGeom>
          <a:solidFill>
            <a:srgbClr val="8B2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72784" y="3337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LEADER: MIELE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72784" y="3776472"/>
            <a:ext cx="2468880" cy="36576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8221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87878"/>
                </a:solidFill>
                <a:latin typeface="Calibri"/>
              </a:rPr>
              <a:t>Samsung: </a:t>
            </a:r>
            <a:r>
              <a:rPr sz="1100" b="1">
                <a:solidFill>
                  <a:srgbClr val="E68A00"/>
                </a:solidFill>
                <a:latin typeface="Calibri"/>
              </a:rPr>
              <a:t>2nd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43416" y="2770632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0576" y="2862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21212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46336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Sensor Innovation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80576" y="3319272"/>
            <a:ext cx="2468880" cy="320040"/>
          </a:xfrm>
          <a:prstGeom prst="round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80576" y="3337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LEADER: BOSCH + MIELE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80576" y="3776472"/>
            <a:ext cx="2468880" cy="36576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80576" y="38221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87878"/>
                </a:solidFill>
                <a:latin typeface="Calibri"/>
              </a:rPr>
              <a:t>Samsung: </a:t>
            </a:r>
            <a:r>
              <a:rPr sz="1100" b="1">
                <a:solidFill>
                  <a:srgbClr val="D42B2B"/>
                </a:solidFill>
                <a:latin typeface="Calibri"/>
              </a:rPr>
              <a:t>3rd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0040" y="4489704"/>
            <a:ext cx="2743200" cy="1554480"/>
          </a:xfrm>
          <a:prstGeom prst="roundRect">
            <a:avLst/>
          </a:prstGeom>
          <a:solidFill>
            <a:srgbClr val="E3EAFA"/>
          </a:solidFill>
          <a:ln w="1905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5811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21212"/>
                </a:solidFill>
                <a:latin typeface="Calibri"/>
              </a:defRPr>
            </a:pPr>
            <a:r>
              <a:t>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4599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Ecosystem Breadth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5038344"/>
            <a:ext cx="2468880" cy="32004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056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LEADER: SAMSUNG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5495544"/>
            <a:ext cx="2468880" cy="365760"/>
          </a:xfrm>
          <a:prstGeom prst="roundRect">
            <a:avLst/>
          </a:prstGeom>
          <a:solidFill>
            <a:srgbClr val="E2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55412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8A4E"/>
                </a:solidFill>
                <a:latin typeface="Calibri"/>
              </a:rPr>
              <a:t>✓  Samsung Leads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227832" y="4489704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64992" y="45811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21212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30752" y="4599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Edge AI / Privacy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364992" y="5038344"/>
            <a:ext cx="2468880" cy="320040"/>
          </a:xfrm>
          <a:prstGeom prst="round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64992" y="5056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LEADER: GE/HAIER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364992" y="5495544"/>
            <a:ext cx="2468880" cy="36576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64992" y="55412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87878"/>
                </a:solidFill>
                <a:latin typeface="Calibri"/>
              </a:rPr>
              <a:t>Samsung: </a:t>
            </a:r>
            <a:r>
              <a:rPr sz="1100" b="1">
                <a:solidFill>
                  <a:srgbClr val="D42B2B"/>
                </a:solidFill>
                <a:latin typeface="Calibri"/>
              </a:rPr>
              <a:t>4th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35624" y="4489704"/>
            <a:ext cx="2743200" cy="1554480"/>
          </a:xfrm>
          <a:prstGeom prst="roundRect">
            <a:avLst/>
          </a:prstGeom>
          <a:solidFill>
            <a:srgbClr val="E3EAFA"/>
          </a:solidFill>
          <a:ln w="1905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72784" y="45811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21212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38544" y="4599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Security Framework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72784" y="5038344"/>
            <a:ext cx="2468880" cy="32004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72784" y="5056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LEADER: SAMSUNG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72784" y="5495544"/>
            <a:ext cx="2468880" cy="365760"/>
          </a:xfrm>
          <a:prstGeom prst="roundRect">
            <a:avLst/>
          </a:prstGeom>
          <a:solidFill>
            <a:srgbClr val="E2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72784" y="55412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8A4E"/>
                </a:solidFill>
                <a:latin typeface="Calibri"/>
              </a:rPr>
              <a:t>✓  Samsung Leads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043416" y="4489704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80576" y="45811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21212"/>
                </a:solidFill>
                <a:latin typeface="Calibri"/>
              </a:defRPr>
            </a:pPr>
            <a:r>
              <a:t>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46336" y="4599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D2D"/>
                </a:solidFill>
                <a:latin typeface="Calibri"/>
              </a:defRPr>
            </a:pPr>
            <a:r>
              <a:t>Display Technology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180576" y="5038344"/>
            <a:ext cx="2468880" cy="32004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80576" y="5056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LEADER: LG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180576" y="5495544"/>
            <a:ext cx="2468880" cy="36576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180576" y="55412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87878"/>
                </a:solidFill>
                <a:latin typeface="Calibri"/>
              </a:rPr>
              <a:t>Samsung: </a:t>
            </a:r>
            <a:r>
              <a:rPr sz="1100" b="1">
                <a:solidFill>
                  <a:srgbClr val="E68A00"/>
                </a:solidFill>
                <a:latin typeface="Calibri"/>
              </a:rPr>
              <a:t>2nd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0A1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6336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Samsung leads 5 of 12 categories</a:t>
            </a:r>
            <a:r>
              <a:rPr sz="1000" b="0">
                <a:solidFill>
                  <a:srgbClr val="AABBEE"/>
                </a:solidFill>
                <a:latin typeface="Calibri"/>
              </a:rPr>
              <a:t>   —   Trails in Autonomous Cooking (Bosch), Sensors (Bosch/Miele), Recipe AI (GE), Privacy (GE/Haier), Display (LG)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A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Top Competitive Gaps Samsung Must Close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051560"/>
            <a:ext cx="57150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92040" y="1188720"/>
            <a:ext cx="914400" cy="27432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2070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42B2B"/>
                </a:solidFill>
                <a:latin typeface="Calibri"/>
              </a:defRPr>
            </a:pPr>
            <a:r>
              <a:t>● 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DDDDD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88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No Multi-Appliance</a:t>
            </a:r>
            <a:br/>
            <a:r>
              <a:t>Cooking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48840"/>
            <a:ext cx="2560320" cy="320040"/>
          </a:xfrm>
          <a:prstGeom prst="round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BOSCH COOK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  <a:latin typeface="Calibri"/>
              </a:rPr>
              <a:t>What they do: </a:t>
            </a:r>
            <a:r>
              <a:rPr sz="1000" b="0">
                <a:solidFill>
                  <a:srgbClr val="2D2D2D"/>
                </a:solidFill>
                <a:latin typeface="Calibri"/>
              </a:rPr>
              <a:t>Coordinates cooktop + oven + probe simultaneously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2B2B"/>
                </a:solidFill>
                <a:latin typeface="Calibri"/>
              </a:rPr>
              <a:t>Samsung gap: </a:t>
            </a:r>
            <a:r>
              <a:rPr sz="1000" b="0">
                <a:solidFill>
                  <a:srgbClr val="2D2D2D"/>
                </a:solidFill>
                <a:latin typeface="Calibri"/>
              </a:rPr>
              <a:t>Samsung AI Pro Cooking is single-appliance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51560"/>
            <a:ext cx="57150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89920" y="1188720"/>
            <a:ext cx="914400" cy="27432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0" y="12070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42B2B"/>
                </a:solidFill>
                <a:latin typeface="Calibri"/>
              </a:defRPr>
            </a:pPr>
            <a:r>
              <a:t>● 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1887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DDDDD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188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Cloud-Dependent</a:t>
            </a:r>
            <a:br/>
            <a:r>
              <a:t>Vision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148840"/>
            <a:ext cx="2560320" cy="320040"/>
          </a:xfrm>
          <a:prstGeom prst="round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16712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 EDGE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606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  <a:latin typeface="Calibri"/>
              </a:rPr>
              <a:t>What they do: </a:t>
            </a:r>
            <a:r>
              <a:rPr sz="1000" b="0">
                <a:solidFill>
                  <a:srgbClr val="2D2D2D"/>
                </a:solidFill>
                <a:latin typeface="Calibri"/>
              </a:rPr>
              <a:t>"Images stay on device, not in the cloud"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2B2B"/>
                </a:solidFill>
                <a:latin typeface="Calibri"/>
              </a:rPr>
              <a:t>Samsung gap: </a:t>
            </a:r>
            <a:r>
              <a:rPr sz="1000" b="0">
                <a:solidFill>
                  <a:srgbClr val="2D2D2D"/>
                </a:solidFill>
                <a:latin typeface="Calibri"/>
              </a:rPr>
              <a:t>Samsung sends food photos to Google Gemini cloud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3794760"/>
            <a:ext cx="57150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92040" y="3931920"/>
            <a:ext cx="914400" cy="27432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39502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68A00"/>
                </a:solidFill>
                <a:latin typeface="Calibri"/>
              </a:defRPr>
            </a:pPr>
            <a:r>
              <a:t>● 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31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DDDDD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9319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No Smart</a:t>
            </a:r>
            <a:br/>
            <a:r>
              <a:t>Cookware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2560320" cy="320040"/>
          </a:xfrm>
          <a:prstGeom prst="roundRect">
            <a:avLst/>
          </a:prstGeom>
          <a:solidFill>
            <a:srgbClr val="8B2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1032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MIELE M SENSE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349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  <a:latin typeface="Calibri"/>
              </a:rPr>
              <a:t>What they do: </a:t>
            </a:r>
            <a:r>
              <a:rPr sz="1000" b="0">
                <a:solidFill>
                  <a:srgbClr val="2D2D2D"/>
                </a:solidFill>
                <a:latin typeface="Calibri"/>
              </a:rPr>
              <a:t>3 temp sensors IN cookware + auto hob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60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2B2B"/>
                </a:solidFill>
                <a:latin typeface="Calibri"/>
              </a:rPr>
              <a:t>Samsung gap: </a:t>
            </a:r>
            <a:r>
              <a:rPr sz="1000" b="0">
                <a:solidFill>
                  <a:srgbClr val="2D2D2D"/>
                </a:solidFill>
                <a:latin typeface="Calibri"/>
              </a:rPr>
              <a:t>Samsung has zero smart cookware strategy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794760"/>
            <a:ext cx="57150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789920" y="3931920"/>
            <a:ext cx="914400" cy="27432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0" y="39502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68A00"/>
                </a:solidFill>
                <a:latin typeface="Calibri"/>
              </a:defRPr>
            </a:pPr>
            <a:r>
              <a:t>● 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931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DDDDD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9319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Weaker Recipe</a:t>
            </a:r>
            <a:br/>
            <a:r>
              <a:t>AI Platform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4892040"/>
            <a:ext cx="2560320" cy="320040"/>
          </a:xfrm>
          <a:prstGeom prst="roundRect">
            <a:avLst/>
          </a:prstGeom>
          <a:solidFill>
            <a:srgbClr val="006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91032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 FLAVORLY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349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  <a:latin typeface="Calibri"/>
              </a:rPr>
              <a:t>What they do: </a:t>
            </a:r>
            <a:r>
              <a:rPr sz="1000" b="0">
                <a:solidFill>
                  <a:srgbClr val="2D2D2D"/>
                </a:solidFill>
                <a:latin typeface="Calibri"/>
              </a:rPr>
              <a:t>Photo-to-recipe + handwritten digitization + Instacart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760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2B2B"/>
                </a:solidFill>
                <a:latin typeface="Calibri"/>
              </a:rPr>
              <a:t>Samsung gap: </a:t>
            </a:r>
            <a:r>
              <a:rPr sz="1000" b="0">
                <a:solidFill>
                  <a:srgbClr val="2D2D2D"/>
                </a:solidFill>
                <a:latin typeface="Calibri"/>
              </a:rPr>
              <a:t>Samsung Food lacks generative features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0A1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ABBEE"/>
                </a:solidFill>
                <a:latin typeface="Calibri"/>
              </a:defRPr>
            </a:pPr>
            <a:r>
              <a:t>ALSO WATCH:</a:t>
            </a:r>
          </a:p>
        </p:txBody>
      </p:sp>
      <p:sp>
        <p:nvSpPr>
          <p:cNvPr id="43" name="Oval 42"/>
          <p:cNvSpPr/>
          <p:nvPr/>
        </p:nvSpPr>
        <p:spPr>
          <a:xfrm>
            <a:off x="2011680" y="6510528"/>
            <a:ext cx="137160" cy="13716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12848" y="6446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LG EXAONE</a:t>
            </a:r>
            <a:r>
              <a:rPr sz="800" b="0">
                <a:solidFill>
                  <a:srgbClr val="99AACC"/>
                </a:solidFill>
                <a:latin typeface="Calibri"/>
              </a:rPr>
              <a:t>  On-device LLM in fridge</a:t>
            </a:r>
          </a:p>
        </p:txBody>
      </p:sp>
      <p:sp>
        <p:nvSpPr>
          <p:cNvPr id="45" name="Oval 44"/>
          <p:cNvSpPr/>
          <p:nvPr/>
        </p:nvSpPr>
        <p:spPr>
          <a:xfrm>
            <a:off x="4572000" y="6510528"/>
            <a:ext cx="137160" cy="137160"/>
          </a:xfrm>
          <a:prstGeom prst="ellipse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73168" y="6446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Bosch Matter-First</a:t>
            </a:r>
            <a:r>
              <a:rPr sz="800" b="0">
                <a:solidFill>
                  <a:srgbClr val="99AACC"/>
                </a:solidFill>
                <a:latin typeface="Calibri"/>
              </a:rPr>
              <a:t>  Open ecosystem eroding SmartThings lock-in</a:t>
            </a:r>
          </a:p>
        </p:txBody>
      </p:sp>
      <p:sp>
        <p:nvSpPr>
          <p:cNvPr id="47" name="Oval 46"/>
          <p:cNvSpPr/>
          <p:nvPr/>
        </p:nvSpPr>
        <p:spPr>
          <a:xfrm>
            <a:off x="7132320" y="6510528"/>
            <a:ext cx="137160" cy="137160"/>
          </a:xfrm>
          <a:prstGeom prst="ellipse">
            <a:avLst/>
          </a:prstGeom>
          <a:solidFill>
            <a:srgbClr val="C8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33488" y="6446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KitchenAid Relaunch</a:t>
            </a:r>
            <a:r>
              <a:rPr sz="800" b="0">
                <a:solidFill>
                  <a:srgbClr val="99AACC"/>
                </a:solidFill>
                <a:latin typeface="Calibri"/>
              </a:rPr>
              <a:t>  Camera AI in premium ovens</a:t>
            </a:r>
          </a:p>
        </p:txBody>
      </p:sp>
      <p:sp>
        <p:nvSpPr>
          <p:cNvPr id="49" name="Oval 48"/>
          <p:cNvSpPr/>
          <p:nvPr/>
        </p:nvSpPr>
        <p:spPr>
          <a:xfrm>
            <a:off x="9692640" y="6510528"/>
            <a:ext cx="137160" cy="1371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93808" y="6446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Midea</a:t>
            </a:r>
            <a:r>
              <a:rPr sz="800" b="0">
                <a:solidFill>
                  <a:srgbClr val="99AACC"/>
                </a:solidFill>
                <a:latin typeface="Calibri"/>
              </a:rPr>
              <a:t>  Chinese brand disruption at lower prices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Samsung: 4 Strategic Priorities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51560"/>
            <a:ext cx="2788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88920" cy="73152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1325880"/>
            <a:ext cx="640080" cy="640080"/>
          </a:xfrm>
          <a:prstGeom prst="ellipse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344168"/>
            <a:ext cx="640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Build Agentic</a:t>
            </a:r>
            <a:br/>
            <a:r>
              <a:t>Cooking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878"/>
                </a:solidFill>
                <a:latin typeface="Calibri"/>
              </a:defRPr>
            </a:pPr>
            <a:r>
              <a:t>Multi-appliance orchestration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200400"/>
            <a:ext cx="1325880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3438144"/>
            <a:ext cx="91440" cy="91440"/>
          </a:xfrm>
          <a:prstGeom prst="ellipse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Coordinate fridge + cooktop + oven from single AI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986784"/>
            <a:ext cx="91440" cy="91440"/>
          </a:xfrm>
          <a:prstGeom prst="ellipse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Match Bosch Cook AI's autonomous cooking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35424"/>
            <a:ext cx="91440" cy="91440"/>
          </a:xfrm>
          <a:prstGeom prst="ellipse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Leverage SmartThings for cross-device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37760"/>
            <a:ext cx="2057400" cy="320040"/>
          </a:xfrm>
          <a:prstGeom prst="round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56048"/>
            <a:ext cx="2057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1051560"/>
            <a:ext cx="2788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1051560"/>
            <a:ext cx="2788920" cy="73152"/>
          </a:xfrm>
          <a:prstGeom prst="rect">
            <a:avLst/>
          </a:prstGeom>
          <a:solidFill>
            <a:srgbClr val="3A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06240" y="1325880"/>
            <a:ext cx="640080" cy="640080"/>
          </a:xfrm>
          <a:prstGeom prst="ellipse">
            <a:avLst/>
          </a:prstGeom>
          <a:solidFill>
            <a:srgbClr val="3A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1344168"/>
            <a:ext cx="640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1031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Keep Visual</a:t>
            </a:r>
            <a:br/>
            <a:r>
              <a:t>Data On-Device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8346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878"/>
                </a:solidFill>
                <a:latin typeface="Calibri"/>
              </a:defRPr>
            </a:pPr>
            <a:r>
              <a:t>Hybrid edge-cloud architecture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200400"/>
            <a:ext cx="1325880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74720" y="3438144"/>
            <a:ext cx="91440" cy="91440"/>
          </a:xfrm>
          <a:prstGeom prst="ellipse">
            <a:avLst/>
          </a:prstGeom>
          <a:solidFill>
            <a:srgbClr val="3A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33832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Camera images processed locally (match GE)</a:t>
            </a:r>
          </a:p>
        </p:txBody>
      </p:sp>
      <p:sp>
        <p:nvSpPr>
          <p:cNvPr id="29" name="Oval 28"/>
          <p:cNvSpPr/>
          <p:nvPr/>
        </p:nvSpPr>
        <p:spPr>
          <a:xfrm>
            <a:off x="3474720" y="3986784"/>
            <a:ext cx="91440" cy="91440"/>
          </a:xfrm>
          <a:prstGeom prst="ellipse">
            <a:avLst/>
          </a:prstGeom>
          <a:solidFill>
            <a:srgbClr val="3A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39319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Use Gemini cloud only for generative features</a:t>
            </a:r>
          </a:p>
        </p:txBody>
      </p:sp>
      <p:sp>
        <p:nvSpPr>
          <p:cNvPr id="31" name="Oval 30"/>
          <p:cNvSpPr/>
          <p:nvPr/>
        </p:nvSpPr>
        <p:spPr>
          <a:xfrm>
            <a:off x="3474720" y="4535424"/>
            <a:ext cx="91440" cy="91440"/>
          </a:xfrm>
          <a:prstGeom prst="ellipse">
            <a:avLst/>
          </a:prstGeom>
          <a:solidFill>
            <a:srgbClr val="3A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44805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Address 47% user privacy concerns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66160" y="4937760"/>
            <a:ext cx="2057400" cy="320040"/>
          </a:xfrm>
          <a:prstGeom prst="round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956048"/>
            <a:ext cx="2057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1051560"/>
            <a:ext cx="2788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1051560"/>
            <a:ext cx="278892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32320" y="132588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1344168"/>
            <a:ext cx="640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21031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Upgrade</a:t>
            </a:r>
            <a:br/>
            <a:r>
              <a:t>Samsung Food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28346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878"/>
                </a:solidFill>
                <a:latin typeface="Calibri"/>
              </a:defRPr>
            </a:pPr>
            <a:r>
              <a:t>Generative recipe capabilities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3200400"/>
            <a:ext cx="1325880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00800" y="3438144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3832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Add photo-to-recipe (dish → recipe)</a:t>
            </a:r>
          </a:p>
        </p:txBody>
      </p:sp>
      <p:sp>
        <p:nvSpPr>
          <p:cNvPr id="44" name="Oval 43"/>
          <p:cNvSpPr/>
          <p:nvPr/>
        </p:nvSpPr>
        <p:spPr>
          <a:xfrm>
            <a:off x="6400800" y="3986784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39319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Handwritten recipe digitization</a:t>
            </a:r>
          </a:p>
        </p:txBody>
      </p:sp>
      <p:sp>
        <p:nvSpPr>
          <p:cNvPr id="46" name="Oval 45"/>
          <p:cNvSpPr/>
          <p:nvPr/>
        </p:nvSpPr>
        <p:spPr>
          <a:xfrm>
            <a:off x="6400800" y="4535424"/>
            <a:ext cx="91440" cy="914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44805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Integrate grocery delivery (Instacart-style)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92240" y="4937760"/>
            <a:ext cx="2057400" cy="320040"/>
          </a:xfrm>
          <a:prstGeom prst="round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4956048"/>
            <a:ext cx="2057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52560" y="1051560"/>
            <a:ext cx="2788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52560" y="1051560"/>
            <a:ext cx="2788920" cy="731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058400" y="1325880"/>
            <a:ext cx="640080" cy="64008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58400" y="1344168"/>
            <a:ext cx="640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21031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Invest in</a:t>
            </a:r>
            <a:br/>
            <a:r>
              <a:t>Sensor Tech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28346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878"/>
                </a:solidFill>
                <a:latin typeface="Calibri"/>
              </a:defRPr>
            </a:pPr>
            <a:r>
              <a:t>Cookware &amp; advanced sensors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84080" y="3200400"/>
            <a:ext cx="1325880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326880" y="3438144"/>
            <a:ext cx="91440" cy="9144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760" y="33832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Evaluate smart cookware partnerships</a:t>
            </a:r>
          </a:p>
        </p:txBody>
      </p:sp>
      <p:sp>
        <p:nvSpPr>
          <p:cNvPr id="59" name="Oval 58"/>
          <p:cNvSpPr/>
          <p:nvPr/>
        </p:nvSpPr>
        <p:spPr>
          <a:xfrm>
            <a:off x="9326880" y="3986784"/>
            <a:ext cx="91440" cy="9144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09760" y="39319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Add oven chemical sensors (lambda probe equiv.)</a:t>
            </a:r>
          </a:p>
        </p:txBody>
      </p:sp>
      <p:sp>
        <p:nvSpPr>
          <p:cNvPr id="61" name="Oval 60"/>
          <p:cNvSpPr/>
          <p:nvPr/>
        </p:nvSpPr>
        <p:spPr>
          <a:xfrm>
            <a:off x="9326880" y="4535424"/>
            <a:ext cx="91440" cy="9144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09760" y="44805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Better sensor data → better AI cooking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418320" y="4937760"/>
            <a:ext cx="2057400" cy="320040"/>
          </a:xfrm>
          <a:prstGeom prst="round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18320" y="4956048"/>
            <a:ext cx="2057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5760720"/>
            <a:ext cx="12191695" cy="1005840"/>
          </a:xfrm>
          <a:prstGeom prst="rect">
            <a:avLst/>
          </a:prstGeom>
          <a:solidFill>
            <a:srgbClr val="0A1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8CF2"/>
                </a:solidFill>
                <a:latin typeface="Calibri"/>
              </a:defRPr>
            </a:pPr>
            <a:r>
              <a:t>2026–2028 INDUSTRY OUTLOOK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AABBDD"/>
                </a:solidFill>
                <a:latin typeface="Calibri"/>
              </a:rPr>
              <a:t>Agentic AI becomes the standard for premium cooking</a:t>
            </a:r>
            <a:r>
              <a:rPr sz="950">
                <a:solidFill>
                  <a:srgbClr val="AABBDD"/>
                </a:solidFill>
                <a:latin typeface="Calibri"/>
              </a:rPr>
              <a:t>    ·    On-device LLMs proliferate for privacy</a:t>
            </a:r>
            <a:r>
              <a:rPr sz="950">
                <a:solidFill>
                  <a:srgbClr val="AABBDD"/>
                </a:solidFill>
                <a:latin typeface="Calibri"/>
              </a:rPr>
              <a:t>    ·    Matter erodes proprietary ecosystem lock-in</a:t>
            </a:r>
            <a:r>
              <a:rPr sz="950">
                <a:solidFill>
                  <a:srgbClr val="AABBDD"/>
                </a:solidFill>
                <a:latin typeface="Calibri"/>
              </a:rPr>
              <a:t>    ·    Smart cookware emerges as new product category</a:t>
            </a:r>
            <a:r>
              <a:rPr sz="950">
                <a:solidFill>
                  <a:srgbClr val="AABBDD"/>
                </a:solidFill>
                <a:latin typeface="Calibri"/>
              </a:rPr>
              <a:t>    ·    Generative recipe AI becomes table stakes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