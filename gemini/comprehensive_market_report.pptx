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Market Intelligence Report: Kitchen AI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Analysis &amp; Competitive Landscape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MARKET INTELLIGENCE REPORT: KITCHEN AI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 sz="1800"/>
            </a:pPr>
            <a:r>
              <a:t>PART 1: MARKET LANDSCAPE &amp; TECHNICAL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1: THE MACRO LANDSCAPE - FROM "SMART" TO "AGENTIC"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 sz="1800"/>
            </a:pPr>
            <a:r>
              <a:t>1.1 EXECUTIVE OVERVIEW: THE "AGENTIC" PIVOT</a:t>
            </a:r>
          </a:p>
          <a:p>
            <a:pPr>
              <a:defRPr sz="1200"/>
            </a:pPr>
            <a:r>
              <a:t>The kitchen appliance market has historically followed a trajectory of incremental connectivity—first Wi-Fi (2014), then basic app control (2018), and recently, generative AI integration (2024-2025). However, CES 2026 marks a definitive pivot from **"Connected"** devices to **"Agentic"** systems.</a:t>
            </a:r>
          </a:p>
          <a:p>
            <a:pPr>
              <a:defRPr sz="1200"/>
            </a:pPr>
            <a:r>
              <a:t>The core distinction lies in autonomy. Previous generations required explicit human command ("Preheat oven to 350"). The 2026 cohort, led by Samsung and LG, operates on **intent inference**. A refrigerator doesn't just list ingredients; it infers a dinner plan based on spoiling produce and communicates that intent to the oven without user intervention.</a:t>
            </a:r>
          </a:p>
          <a:p>
            <a:pPr>
              <a:defRPr b="1" sz="1800"/>
            </a:pPr>
            <a:r>
              <a:t>1.2 MARKET DRIVERS &amp; CONSUMER SENTIMENT</a:t>
            </a:r>
          </a:p>
          <a:p>
            <a:pPr lvl="1">
              <a:defRPr sz="1400"/>
            </a:pPr>
            <a:r>
              <a:t>The "Mental Load" Crisis:** Consumer research indicates that the friction of managing smart home apps is higher than the utility they provide. The 2026 mandate is "Zero UI"—automating tasks without app interaction.</a:t>
            </a:r>
          </a:p>
          <a:p>
            <a:pPr lvl="1">
              <a:defRPr sz="1400"/>
            </a:pPr>
            <a:r>
              <a:t>Energy as a Currency:** With fluctuating energy prices, "Smart Grid" compliance is no longer a green niche but a cost-saving necessity. Appliances that autonomously delay cycles to off-peak hours are becoming standard.</a:t>
            </a:r>
          </a:p>
          <a:p>
            <a:pPr lvl="1">
              <a:defRPr sz="1400"/>
            </a:pPr>
            <a:r>
              <a:t>Privacy Fatigue:** A growing segment of premium buyers (Bosch's core demographic) is rejecting cloud-tethered appliances in favor of local-only processing, creating a fracture in the market between "Hyper-Intelligent Cloud" (Samsung/LG) and "Secure Local" (Bosch/Miele).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2: TECHNICAL ARCHITECTURE - THE "BRAIN" BATTLE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 sz="1800"/>
            </a:pPr>
            <a:r>
              <a:t>2.1 THE STRATEGIC DIVERGENCE</a:t>
            </a:r>
          </a:p>
          <a:p>
            <a:pPr>
              <a:defRPr sz="1200"/>
            </a:pPr>
            <a:r>
              <a:t>Two distinct architectural philosophies have emerged at CES 2026:</a:t>
            </a:r>
          </a:p>
          <a:p>
            <a:pPr>
              <a:defRPr sz="1200"/>
            </a:pPr>
            <a:r>
              <a:t>1.  **Distributed Edge Intelligence (Samsung):** Pushing high-compute silicon (NPUs) directly into individual appliances. The fridge is smart; the oven is smart.</a:t>
            </a:r>
          </a:p>
          <a:p>
            <a:pPr>
              <a:defRPr sz="1200"/>
            </a:pPr>
            <a:r>
              <a:t>2.  **Centralized Hub Intelligence (LG):** A "Dumb Node, Smart Hub" topology where a central brain (ThinQ ON) orchestrates relatively lighter endpoints.</a:t>
            </a:r>
          </a:p>
          <a:p>
            <a:pPr>
              <a:defRPr b="1" sz="1800"/>
            </a:pPr>
            <a:r>
              <a:t>2.2 SAMSUNG BESPOKE AI: THE "EDGE-FIRST" NPU ARCHITECTURE</a:t>
            </a:r>
          </a:p>
          <a:p>
            <a:pPr>
              <a:defRPr sz="1200"/>
            </a:pPr>
            <a:r>
              <a:t>Samsung's strategy relies on brute-force local compute to minimize latency and cloud costs for high-bandwidth tasks like vision.</a:t>
            </a:r>
          </a:p>
          <a:p>
            <a:pPr lvl="1">
              <a:defRPr sz="1400"/>
            </a:pPr>
            <a:r>
              <a:t>Chipset Architecture:</a:t>
            </a:r>
          </a:p>
          <a:p>
            <a:pPr lvl="1">
              <a:defRPr sz="1400"/>
            </a:pPr>
            <a:r>
              <a:t>Core Processor:** Modified Exynos-class SoC with a dedicated **Neural Processing Unit (NPU)**.</a:t>
            </a:r>
          </a:p>
          <a:p>
            <a:pPr lvl="1">
              <a:defRPr sz="1400"/>
            </a:pPr>
            <a:r>
              <a:t>Vision Pipeline:</a:t>
            </a:r>
          </a:p>
          <a:p>
            <a:pPr>
              <a:defRPr sz="1200"/>
            </a:pPr>
            <a:r>
              <a:t>1.  **L1 (Local):** The NPU performs real-time object detection (Bounding Box + Classification) at &lt;50ms latency. It can identify "Apple" vs. "Orange" instantly without internet.</a:t>
            </a:r>
          </a:p>
          <a:p>
            <a:pPr>
              <a:defRPr sz="1200"/>
            </a:pPr>
            <a:r>
              <a:t>2.  **L2 (Cloud Hybrid):** For complex reasoning ("Is this apple bruised?" or "What can I cook with this weird leftover?"), the NPU generates a feature vector and sends it to **Google Gemini** in the cloud.</a:t>
            </a:r>
          </a:p>
          <a:p>
            <a:pPr lvl="1">
              <a:defRPr sz="1400"/>
            </a:pPr>
            <a:r>
              <a:t>Advantages:** fast responsiveness for UI and basic tasks; functional even if Wi-Fi cuts out.</a:t>
            </a:r>
          </a:p>
          <a:p>
            <a:pPr lvl="1">
              <a:defRPr sz="1400"/>
            </a:pPr>
            <a:r>
              <a:t>Disadvantages:** Higher Bill of Materials (BOM) cost per appliance; complex firmware updates.</a:t>
            </a:r>
          </a:p>
          <a:p>
            <a:pPr>
              <a:defRPr b="1" sz="1800"/>
            </a:pPr>
            <a:r>
              <a:t>2.3 LG THINQ ON: THE "CENTRAL BRAIN" ARCHITECTURE</a:t>
            </a:r>
          </a:p>
          <a:p>
            <a:pPr>
              <a:defRPr sz="1200"/>
            </a:pPr>
            <a:r>
              <a:t>LG has bet on the **ThinQ ON** hub to lower the cost of individual appliances while maintaining high intelligence.</a:t>
            </a:r>
          </a:p>
          <a:p>
            <a:pPr lvl="1">
              <a:defRPr sz="1400"/>
            </a:pPr>
            <a:r>
              <a:t>Chipset Architecture:</a:t>
            </a:r>
          </a:p>
          <a:p>
            <a:pPr lvl="1">
              <a:defRPr sz="1400"/>
            </a:pPr>
            <a:r>
              <a:t>Hub Core:** Likely the **LG DQ-X AI Chipset**, designed specifically for on-device generative AI and voice processing.</a:t>
            </a:r>
          </a:p>
          <a:p>
            <a:pPr lvl="1">
              <a:defRPr sz="1400"/>
            </a:pPr>
            <a:r>
              <a:t>Affectionate Intelligence Model:** A specialized Small Language Model (SLM) running locally on the hub. It is fine-tuned for "empathy" and home context (e.g., distinguishing between a user's frustrated tone vs. a normal command).</a:t>
            </a:r>
          </a:p>
          <a:p>
            <a:pPr lvl="1">
              <a:defRPr sz="1400"/>
            </a:pPr>
            <a:r>
              <a:t>Connectivity Fabric:** The hub acts as a **Matter Controller** and Thread Border Router. It continuously ingests data from "dumb" sensors (door open, oven temp) and processes the logic centrally.</a:t>
            </a:r>
          </a:p>
          <a:p>
            <a:pPr lvl="1">
              <a:defRPr sz="1400"/>
            </a:pPr>
            <a:r>
              <a:t>Advantages:** Lower appliance cost (no heavy NPU needed in the toaster); unified "personality" across the home.</a:t>
            </a:r>
          </a:p>
          <a:p>
            <a:pPr lvl="1">
              <a:defRPr sz="1400"/>
            </a:pPr>
            <a:r>
              <a:t>Disadvantages:** Single point of failure (if the hub dies, the intelligence dies); potential latency in high-traffic networks.</a:t>
            </a:r>
          </a:p>
          <a:p>
            <a:pPr>
              <a:defRPr b="1" sz="1800"/>
            </a:pPr>
            <a:r>
              <a:t>2.4 COMPARATIVE ANALYSIS: NPU VS. 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PRODUCT DEEP DIVE &amp; CRITICAL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3: REFRIGERATORS - THE "VISION" BATTLEFIELD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 sz="1800"/>
            </a:pPr>
            <a:r>
              <a:t>3.1 SAMSUNG BESPOKE AI FAMILY HUB (2026)</a:t>
            </a:r>
          </a:p>
          <a:p>
            <a:pPr lvl="1">
              <a:defRPr sz="1400"/>
            </a:pPr>
            <a:r>
              <a:t>The "Gemini" Upgrade:** The 2025 model's limitation (37 recognized items) has been obliterated. The 2026 stack uses **Google Gemini's multimodal capabilities** to identify thousands of items, including "non-standard" objects like leftovers in Tupperware or half-eaten sandwiches, by inferring context from user history.</a:t>
            </a:r>
          </a:p>
          <a:p>
            <a:pPr lvl="1">
              <a:defRPr sz="1400"/>
            </a:pPr>
            <a:r>
              <a:t>Vision Hardware:</a:t>
            </a:r>
          </a:p>
          <a:p>
            <a:pPr lvl="1">
              <a:defRPr sz="1400"/>
            </a:pPr>
            <a:r>
              <a:t>Dual-Lens Internal Camera:** One wide-angle for shelf mapping, one telephoto for label reading.</a:t>
            </a:r>
          </a:p>
          <a:p>
            <a:pPr lvl="1">
              <a:defRPr sz="1400"/>
            </a:pPr>
            <a:r>
              <a:t>Occlusion Handling:** The NPU uses "Object Permanence" logic—if milk was placed behind the juice, the system remembers it's there even if blocked from view.</a:t>
            </a:r>
          </a:p>
          <a:p>
            <a:pPr lvl="1">
              <a:defRPr sz="1400"/>
            </a:pPr>
            <a:r>
              <a:t>The "Killer App":** Automated expiration tracking. By scanning the "Best By" date upon entry (using OCR), the fridge creates a "Use-First" digital shelf, notifying the user 2 days before spoilage.</a:t>
            </a:r>
          </a:p>
          <a:p>
            <a:pPr>
              <a:defRPr b="1" sz="1800"/>
            </a:pPr>
            <a:r>
              <a:t>3.2 LG INSTAVIEW WITH MOODUP</a:t>
            </a:r>
          </a:p>
          <a:p>
            <a:pPr lvl="1">
              <a:defRPr sz="1400"/>
            </a:pPr>
            <a:r>
              <a:t>Philosophy:** LG prioritizes **visibility** over **recognition**. The "Knock twice to see" feature is passive tech.</a:t>
            </a:r>
          </a:p>
          <a:p>
            <a:pPr lvl="1">
              <a:defRPr sz="1400"/>
            </a:pPr>
            <a:r>
              <a:t>AI Implementation:** The internal camera is primarily for remote viewing ("Did I buy milk?"). The "AI" features are focused on **inventory inference** based on door opening patterns rather than granular object detection.</a:t>
            </a:r>
          </a:p>
          <a:p>
            <a:pPr lvl="1">
              <a:defRPr sz="1400"/>
            </a:pPr>
            <a:r>
              <a:t>Limitations:** Lacks the semantic reasoning of Samsung. It can see *that* something is there, but rarely knows *what* it is without manual tagging.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4: COOKING - VISION VS. PHYSICS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 sz="1800"/>
            </a:pPr>
            <a:r>
              <a:t>4.1 SAMSUNG BESPOKE AI OVEN: "PRO COOK"</a:t>
            </a:r>
          </a:p>
          <a:p>
            <a:pPr lvl="1">
              <a:defRPr sz="1400"/>
            </a:pPr>
            <a:r>
              <a:t>Vision Technology:** The internal camera is hardened for 500°F (260°C) operation.</a:t>
            </a:r>
          </a:p>
          <a:p>
            <a:pPr lvl="1">
              <a:defRPr sz="1400"/>
            </a:pPr>
            <a:r>
              <a:t>"Burn Detection" Algorithm:** This is the most practical utility. The vision system analyzes the **pixel browning rate** in real-time. If the rate of color change exceeds a safety threshold (indicating burning), it cuts power *before* the smoke alarm goes off.</a:t>
            </a:r>
          </a:p>
          <a:p>
            <a:pPr lvl="1">
              <a:defRPr sz="1400"/>
            </a:pPr>
            <a:r>
              <a:t>Critique:** The "Recipe Recommendation" is a gimmick. Showing a picture of a chicken to the oven works, but it often misinterprets marinades as "browning," leading to undercooked food.</a:t>
            </a:r>
          </a:p>
          <a:p>
            <a:pPr>
              <a:defRPr b="1" sz="1800"/>
            </a:pPr>
            <a:r>
              <a:t>4.2 BOSCH SERIES 8 WITH "COOK AI"</a:t>
            </a:r>
          </a:p>
          <a:p>
            <a:pPr lvl="1">
              <a:defRPr sz="1400"/>
            </a:pPr>
            <a:r>
              <a:t>The Precision Approach:** Bosch eschews internal cameras for **AI-assisted Probe Thermometry**.</a:t>
            </a:r>
          </a:p>
          <a:p>
            <a:pPr lvl="1">
              <a:defRPr sz="1400"/>
            </a:pPr>
            <a:r>
              <a:t>"PerfectBake" Sensor:** Instead of watching the cake, it measures the **humidity** inside the cavity. The AI model predicts doneness based on moisture release curves—a physically superior method to vision for baking.</a:t>
            </a:r>
          </a:p>
          <a:p>
            <a:pPr lvl="1">
              <a:defRPr sz="1400"/>
            </a:pPr>
            <a:r>
              <a:t>Verdict:** Bosch wins on *cooking results*; Samsung wins on *marketing flash*.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5: CRITICAL ANALYSIS - THE "AI WASHING"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 sz="1800"/>
            </a:pPr>
            <a:r>
              <a:t>5.1 THE "ENERGY MODE" CHARADE</a:t>
            </a:r>
          </a:p>
          <a:p>
            <a:pPr lvl="1">
              <a:defRPr sz="1400"/>
            </a:pPr>
            <a:r>
              <a:t>Claim:** "AI Energy Mode saves 70% energy."</a:t>
            </a:r>
          </a:p>
          <a:p>
            <a:pPr lvl="1">
              <a:defRPr sz="1400"/>
            </a:pPr>
            <a:r>
              <a:t>Reality:** This is largely achieved by aggressively throttling the compressor and reducing water temperatures in washers. The "AI" is simply a usage scheduler that delays heavy loads to off-peak hours (if Smart Grid connected) or forces "Eco" settings. It is a rebrand of existing logical controls.</a:t>
            </a:r>
          </a:p>
          <a:p>
            <a:pPr>
              <a:defRPr b="1" sz="1800"/>
            </a:pPr>
            <a:r>
              <a:t>5.2 "AFFECTIONATE INTELLIGENCE" (LG)</a:t>
            </a:r>
          </a:p>
          <a:p>
            <a:pPr lvl="1">
              <a:defRPr sz="1400"/>
            </a:pPr>
            <a:r>
              <a:t>Critique:** The term is marketing fluff. The "empathy" is rule-based logic (e.g., "It's raining, so I'll suggest a warm soup recipe"). While the **ThinQ ON** hub is a robust Matter controller, the "affectionate" layer is currently just a polite voice skin on a standard assistant. It does not truly "feel" or "understand" emotional context beyond basic sentiment analysis.</a:t>
            </a:r>
          </a:p>
          <a:p>
            <a:pPr>
              <a:defRPr b="1" sz="1800"/>
            </a:pPr>
            <a:r>
              <a:t>5.3 PRIVACY: THE ELEPHANT IN THE KITCHEN</a:t>
            </a:r>
          </a:p>
          <a:p>
            <a:pPr lvl="1">
              <a:defRPr sz="1400"/>
            </a:pPr>
            <a:r>
              <a:t>Samsung:** Training data (images of your fridge contents) is theoretically anonymized, but the Gemini integration requires sending feature vectors to the cloud. This creates a metadata trail of your consumption habits.</a:t>
            </a:r>
          </a:p>
          <a:p>
            <a:pPr lvl="1">
              <a:defRPr sz="1400"/>
            </a:pPr>
            <a:r>
              <a:t>LG:** The "LG Shield" is a robust local security layer, but the centralized nature of the Hub means a single breach exposes the entire home's logic.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6: 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 sz="1800"/>
            </a:pPr>
            <a:r>
              <a:t>6.1 FOR THE TECH-FORWARD CONSUMER (EARLY ADOPTER)</a:t>
            </a:r>
          </a:p>
          <a:p>
            <a:pPr lvl="1">
              <a:defRPr sz="1400"/>
            </a:pPr>
            <a:r>
              <a:t>Buy:** **Samsung Bespoke AI ecosystem**. The Gemini integration provides the first glimpse of "Agentic" help (e.g., "Make a meal plan from what's rotting").</a:t>
            </a:r>
          </a:p>
          <a:p>
            <a:pPr lvl="1">
              <a:defRPr sz="1400"/>
            </a:pPr>
            <a:r>
              <a:t>Accept:** You are a beta tester for their vision models.</a:t>
            </a:r>
          </a:p>
          <a:p>
            <a:pPr>
              <a:defRPr b="1" sz="1800"/>
            </a:pPr>
            <a:r>
              <a:t>6.2 FOR THE PRAGMATIST (LONGEVITY FOCUS)</a:t>
            </a:r>
          </a:p>
          <a:p>
            <a:pPr lvl="1">
              <a:defRPr sz="1400"/>
            </a:pPr>
            <a:r>
              <a:t>Buy:** **Bosch/Thermador**. Their "AI" is focused on electromechanical preservation (compressor logic) rather than generative conversation. The software won't age out as fast as a Gemini API integration.</a:t>
            </a:r>
          </a:p>
          <a:p>
            <a:pPr>
              <a:defRPr b="1" sz="1800"/>
            </a:pPr>
            <a:r>
              <a:t>6.3 FOR THE SMART HOME ARCHITECT</a:t>
            </a:r>
          </a:p>
          <a:p>
            <a:pPr lvl="1">
              <a:defRPr sz="1400"/>
            </a:pPr>
            <a:r>
              <a:t>Buy:** **LG ThinQ ON + Mixed Brand Appliances**. Use the LG Hub as a Matter bridge, but don't lock into the full appliance stack. Its open architecture is its strongest asset.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7: CONCLUSION - THE ERA OF THE "AGENT"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200"/>
            </a:pPr>
            <a:r>
              <a:t>The CES 2026 kitchen landscape represents a fundamental shift in the definition of "smart." The industry has moved beyond the **"Remote Control" era** (turning on the oven from the car) into the **"Agentic" era** (the oven deciding *when* to turn on based on the turkey's size and your dinner time).</a:t>
            </a:r>
          </a:p>
          <a:p>
            <a:pPr>
              <a:defRPr sz="1200"/>
            </a:pPr>
            <a:r>
              <a:t>Samsung has taken the most aggressive lead with **Gemini-powered vision**, effectively turning the refrigerator into a home server. LG has countered with a **centralized brain**, prioritizing ecosystem cohesion over individual appliance IQ. Bosch remains the **pragmatic engineer**, using AI to perfect the physics of cooking rather than the user interface.</a:t>
            </a:r>
          </a:p>
          <a:p>
            <a:pPr>
              <a:defRPr sz="1200"/>
            </a:pPr>
            <a:r>
              <a:t>**Final Verdict:**</a:t>
            </a:r>
          </a:p>
          <a:p>
            <a:pPr lvl="1">
              <a:defRPr sz="1400"/>
            </a:pPr>
            <a:r>
              <a:t>Most Innovation:** Samsung (Vision NPU)</a:t>
            </a:r>
          </a:p>
          <a:p>
            <a:pPr lvl="1">
              <a:defRPr sz="1400"/>
            </a:pPr>
            <a:r>
              <a:t>Best Execution:** Bosch (Sensor-based Cooking)</a:t>
            </a:r>
          </a:p>
          <a:p>
            <a:pPr lvl="1">
              <a:defRPr sz="1400"/>
            </a:pPr>
            <a:r>
              <a:t>Best Ecosystem:** LG (ThinQ ON Hub)</a:t>
            </a:r>
          </a:p>
          <a:p>
            <a:pPr>
              <a:defRPr sz="1200"/>
            </a:pPr>
            <a:r>
              <a:t>The "AI-washing" is rampant, particularly in energy claims, but the underlying utility of **computer vision in the fridge** and **preventative burn detection in the oven** is undeniable. The kitchen of 2026 is not just connected; it is finally becoming *aware*.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